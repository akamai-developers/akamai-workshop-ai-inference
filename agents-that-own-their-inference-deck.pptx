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468192"/>
            <a:ext cx="12191695" cy="1481248"/>
          </a:xfrm>
          <a:custGeom>
            <a:avLst/>
            <a:gdLst/>
            <a:ahLst/>
            <a:cxnLst/>
            <a:rect l="l" t="t" r="r" b="b"/>
            <a:pathLst>
              <a:path w="12191695" h="1481248">
                <a:moveTo>
                  <a:pt x="0" y="314675"/>
                </a:moveTo>
                <a:lnTo>
                  <a:pt x="152396" y="331007"/>
                </a:lnTo>
                <a:lnTo>
                  <a:pt x="304792" y="345984"/>
                </a:lnTo>
                <a:lnTo>
                  <a:pt x="457188" y="359453"/>
                </a:lnTo>
                <a:lnTo>
                  <a:pt x="609584" y="371272"/>
                </a:lnTo>
                <a:lnTo>
                  <a:pt x="761980" y="381319"/>
                </a:lnTo>
                <a:lnTo>
                  <a:pt x="914377" y="389488"/>
                </a:lnTo>
                <a:lnTo>
                  <a:pt x="1066773" y="395695"/>
                </a:lnTo>
                <a:lnTo>
                  <a:pt x="1219169" y="399875"/>
                </a:lnTo>
                <a:lnTo>
                  <a:pt x="1371565" y="401985"/>
                </a:lnTo>
                <a:lnTo>
                  <a:pt x="1523961" y="402002"/>
                </a:lnTo>
                <a:lnTo>
                  <a:pt x="1676358" y="399926"/>
                </a:lnTo>
                <a:lnTo>
                  <a:pt x="1828754" y="395780"/>
                </a:lnTo>
                <a:lnTo>
                  <a:pt x="1981150" y="389605"/>
                </a:lnTo>
                <a:lnTo>
                  <a:pt x="2133546" y="381467"/>
                </a:lnTo>
                <a:lnTo>
                  <a:pt x="2285942" y="371450"/>
                </a:lnTo>
                <a:lnTo>
                  <a:pt x="2438339" y="359659"/>
                </a:lnTo>
                <a:lnTo>
                  <a:pt x="2590735" y="346216"/>
                </a:lnTo>
                <a:lnTo>
                  <a:pt x="2743131" y="331261"/>
                </a:lnTo>
                <a:lnTo>
                  <a:pt x="2895527" y="314951"/>
                </a:lnTo>
                <a:lnTo>
                  <a:pt x="3047923" y="297454"/>
                </a:lnTo>
                <a:lnTo>
                  <a:pt x="3200319" y="278954"/>
                </a:lnTo>
                <a:lnTo>
                  <a:pt x="3352716" y="259643"/>
                </a:lnTo>
                <a:lnTo>
                  <a:pt x="3505112" y="239722"/>
                </a:lnTo>
                <a:lnTo>
                  <a:pt x="3657508" y="219399"/>
                </a:lnTo>
                <a:lnTo>
                  <a:pt x="3809904" y="198884"/>
                </a:lnTo>
                <a:lnTo>
                  <a:pt x="3962300" y="178393"/>
                </a:lnTo>
                <a:lnTo>
                  <a:pt x="4114697" y="158138"/>
                </a:lnTo>
                <a:lnTo>
                  <a:pt x="4267093" y="138331"/>
                </a:lnTo>
                <a:lnTo>
                  <a:pt x="4419489" y="119177"/>
                </a:lnTo>
                <a:lnTo>
                  <a:pt x="4571885" y="100876"/>
                </a:lnTo>
                <a:lnTo>
                  <a:pt x="4724281" y="83619"/>
                </a:lnTo>
                <a:lnTo>
                  <a:pt x="4876678" y="67586"/>
                </a:lnTo>
                <a:lnTo>
                  <a:pt x="5029074" y="52943"/>
                </a:lnTo>
                <a:lnTo>
                  <a:pt x="5181470" y="39843"/>
                </a:lnTo>
                <a:lnTo>
                  <a:pt x="5333866" y="28423"/>
                </a:lnTo>
                <a:lnTo>
                  <a:pt x="5486262" y="18801"/>
                </a:lnTo>
                <a:lnTo>
                  <a:pt x="5638659" y="11078"/>
                </a:lnTo>
                <a:lnTo>
                  <a:pt x="5791055" y="5333"/>
                </a:lnTo>
                <a:lnTo>
                  <a:pt x="5943451" y="1628"/>
                </a:lnTo>
                <a:lnTo>
                  <a:pt x="6095847" y="0"/>
                </a:lnTo>
                <a:lnTo>
                  <a:pt x="6248243" y="467"/>
                </a:lnTo>
                <a:lnTo>
                  <a:pt x="6400639" y="3023"/>
                </a:lnTo>
                <a:lnTo>
                  <a:pt x="6553036" y="7642"/>
                </a:lnTo>
                <a:lnTo>
                  <a:pt x="6705432" y="14276"/>
                </a:lnTo>
                <a:lnTo>
                  <a:pt x="6857828" y="22856"/>
                </a:lnTo>
                <a:lnTo>
                  <a:pt x="7010224" y="33293"/>
                </a:lnTo>
                <a:lnTo>
                  <a:pt x="7162620" y="45477"/>
                </a:lnTo>
                <a:lnTo>
                  <a:pt x="7315017" y="59282"/>
                </a:lnTo>
                <a:lnTo>
                  <a:pt x="7467413" y="74563"/>
                </a:lnTo>
                <a:lnTo>
                  <a:pt x="7619809" y="91163"/>
                </a:lnTo>
                <a:lnTo>
                  <a:pt x="7772205" y="108908"/>
                </a:lnTo>
                <a:lnTo>
                  <a:pt x="7924601" y="127612"/>
                </a:lnTo>
                <a:lnTo>
                  <a:pt x="8076998" y="147082"/>
                </a:lnTo>
                <a:lnTo>
                  <a:pt x="8229394" y="167115"/>
                </a:lnTo>
                <a:lnTo>
                  <a:pt x="8381790" y="187501"/>
                </a:lnTo>
                <a:lnTo>
                  <a:pt x="8534186" y="208029"/>
                </a:lnTo>
                <a:lnTo>
                  <a:pt x="8686582" y="228485"/>
                </a:lnTo>
                <a:lnTo>
                  <a:pt x="8838979" y="248655"/>
                </a:lnTo>
                <a:lnTo>
                  <a:pt x="8991375" y="268330"/>
                </a:lnTo>
                <a:lnTo>
                  <a:pt x="9143771" y="287304"/>
                </a:lnTo>
                <a:lnTo>
                  <a:pt x="9296167" y="305380"/>
                </a:lnTo>
                <a:lnTo>
                  <a:pt x="9448563" y="322371"/>
                </a:lnTo>
                <a:lnTo>
                  <a:pt x="9600959" y="338097"/>
                </a:lnTo>
                <a:lnTo>
                  <a:pt x="9753356" y="352397"/>
                </a:lnTo>
                <a:lnTo>
                  <a:pt x="9905752" y="365121"/>
                </a:lnTo>
                <a:lnTo>
                  <a:pt x="10058148" y="376136"/>
                </a:lnTo>
                <a:lnTo>
                  <a:pt x="10210544" y="385328"/>
                </a:lnTo>
                <a:lnTo>
                  <a:pt x="10362940" y="392601"/>
                </a:lnTo>
                <a:lnTo>
                  <a:pt x="10515337" y="397880"/>
                </a:lnTo>
                <a:lnTo>
                  <a:pt x="10667733" y="401108"/>
                </a:lnTo>
                <a:lnTo>
                  <a:pt x="10820129" y="402253"/>
                </a:lnTo>
                <a:lnTo>
                  <a:pt x="10972525" y="401303"/>
                </a:lnTo>
                <a:lnTo>
                  <a:pt x="11124921" y="398268"/>
                </a:lnTo>
                <a:lnTo>
                  <a:pt x="11277318" y="393178"/>
                </a:lnTo>
                <a:lnTo>
                  <a:pt x="11429714" y="386088"/>
                </a:lnTo>
                <a:lnTo>
                  <a:pt x="11582110" y="377071"/>
                </a:lnTo>
                <a:lnTo>
                  <a:pt x="11734506" y="366221"/>
                </a:lnTo>
                <a:lnTo>
                  <a:pt x="11886902" y="353651"/>
                </a:lnTo>
                <a:lnTo>
                  <a:pt x="12039299" y="339492"/>
                </a:lnTo>
                <a:lnTo>
                  <a:pt x="12191695" y="323892"/>
                </a:lnTo>
                <a:lnTo>
                  <a:pt x="12191695" y="1481248"/>
                </a:lnTo>
                <a:lnTo>
                  <a:pt x="0" y="1481248"/>
                </a:lnTo>
                <a:close/>
              </a:path>
            </a:pathLst>
          </a:custGeom>
          <a:solidFill>
            <a:srgbClr val="00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797296"/>
            <a:ext cx="12191695" cy="1152144"/>
          </a:xfrm>
          <a:custGeom>
            <a:avLst/>
            <a:gdLst/>
            <a:ahLst/>
            <a:cxnLst/>
            <a:rect l="l" t="t" r="r" b="b"/>
            <a:pathLst>
              <a:path w="12191695" h="1152144">
                <a:moveTo>
                  <a:pt x="0" y="237744"/>
                </a:moveTo>
                <a:lnTo>
                  <a:pt x="152396" y="265687"/>
                </a:lnTo>
                <a:lnTo>
                  <a:pt x="304792" y="293244"/>
                </a:lnTo>
                <a:lnTo>
                  <a:pt x="457188" y="320031"/>
                </a:lnTo>
                <a:lnTo>
                  <a:pt x="609584" y="345677"/>
                </a:lnTo>
                <a:lnTo>
                  <a:pt x="761980" y="369827"/>
                </a:lnTo>
                <a:lnTo>
                  <a:pt x="914377" y="392146"/>
                </a:lnTo>
                <a:lnTo>
                  <a:pt x="1066773" y="412324"/>
                </a:lnTo>
                <a:lnTo>
                  <a:pt x="1219169" y="430082"/>
                </a:lnTo>
                <a:lnTo>
                  <a:pt x="1371565" y="445174"/>
                </a:lnTo>
                <a:lnTo>
                  <a:pt x="1523961" y="457390"/>
                </a:lnTo>
                <a:lnTo>
                  <a:pt x="1676358" y="466561"/>
                </a:lnTo>
                <a:lnTo>
                  <a:pt x="1828754" y="472560"/>
                </a:lnTo>
                <a:lnTo>
                  <a:pt x="1981150" y="475304"/>
                </a:lnTo>
                <a:lnTo>
                  <a:pt x="2133546" y="474755"/>
                </a:lnTo>
                <a:lnTo>
                  <a:pt x="2285942" y="470919"/>
                </a:lnTo>
                <a:lnTo>
                  <a:pt x="2438339" y="463851"/>
                </a:lnTo>
                <a:lnTo>
                  <a:pt x="2590735" y="453649"/>
                </a:lnTo>
                <a:lnTo>
                  <a:pt x="2743131" y="440454"/>
                </a:lnTo>
                <a:lnTo>
                  <a:pt x="2895527" y="424448"/>
                </a:lnTo>
                <a:lnTo>
                  <a:pt x="3047923" y="405854"/>
                </a:lnTo>
                <a:lnTo>
                  <a:pt x="3200319" y="384929"/>
                </a:lnTo>
                <a:lnTo>
                  <a:pt x="3352716" y="361964"/>
                </a:lnTo>
                <a:lnTo>
                  <a:pt x="3505112" y="337277"/>
                </a:lnTo>
                <a:lnTo>
                  <a:pt x="3657508" y="311210"/>
                </a:lnTo>
                <a:lnTo>
                  <a:pt x="3809904" y="284125"/>
                </a:lnTo>
                <a:lnTo>
                  <a:pt x="3962300" y="256397"/>
                </a:lnTo>
                <a:lnTo>
                  <a:pt x="4114697" y="228410"/>
                </a:lnTo>
                <a:lnTo>
                  <a:pt x="4267093" y="200552"/>
                </a:lnTo>
                <a:lnTo>
                  <a:pt x="4419489" y="173210"/>
                </a:lnTo>
                <a:lnTo>
                  <a:pt x="4571885" y="146763"/>
                </a:lnTo>
                <a:lnTo>
                  <a:pt x="4724281" y="121577"/>
                </a:lnTo>
                <a:lnTo>
                  <a:pt x="4876678" y="98001"/>
                </a:lnTo>
                <a:lnTo>
                  <a:pt x="5029074" y="76363"/>
                </a:lnTo>
                <a:lnTo>
                  <a:pt x="5181470" y="56962"/>
                </a:lnTo>
                <a:lnTo>
                  <a:pt x="5333866" y="40067"/>
                </a:lnTo>
                <a:lnTo>
                  <a:pt x="5486262" y="25912"/>
                </a:lnTo>
                <a:lnTo>
                  <a:pt x="5638659" y="14694"/>
                </a:lnTo>
                <a:lnTo>
                  <a:pt x="5791055" y="6568"/>
                </a:lnTo>
                <a:lnTo>
                  <a:pt x="5943451" y="1647"/>
                </a:lnTo>
                <a:lnTo>
                  <a:pt x="6095847" y="0"/>
                </a:lnTo>
                <a:lnTo>
                  <a:pt x="6248243" y="1647"/>
                </a:lnTo>
                <a:lnTo>
                  <a:pt x="6400639" y="6568"/>
                </a:lnTo>
                <a:lnTo>
                  <a:pt x="6553036" y="14694"/>
                </a:lnTo>
                <a:lnTo>
                  <a:pt x="6705432" y="25912"/>
                </a:lnTo>
                <a:lnTo>
                  <a:pt x="6857828" y="40067"/>
                </a:lnTo>
                <a:lnTo>
                  <a:pt x="7010224" y="56962"/>
                </a:lnTo>
                <a:lnTo>
                  <a:pt x="7162620" y="76363"/>
                </a:lnTo>
                <a:lnTo>
                  <a:pt x="7315017" y="98001"/>
                </a:lnTo>
                <a:lnTo>
                  <a:pt x="7467413" y="121577"/>
                </a:lnTo>
                <a:lnTo>
                  <a:pt x="7619809" y="146763"/>
                </a:lnTo>
                <a:lnTo>
                  <a:pt x="7772205" y="173210"/>
                </a:lnTo>
                <a:lnTo>
                  <a:pt x="7924601" y="200552"/>
                </a:lnTo>
                <a:lnTo>
                  <a:pt x="8076998" y="228410"/>
                </a:lnTo>
                <a:lnTo>
                  <a:pt x="8229394" y="256397"/>
                </a:lnTo>
                <a:lnTo>
                  <a:pt x="8381790" y="284125"/>
                </a:lnTo>
                <a:lnTo>
                  <a:pt x="8534186" y="311210"/>
                </a:lnTo>
                <a:lnTo>
                  <a:pt x="8686582" y="337277"/>
                </a:lnTo>
                <a:lnTo>
                  <a:pt x="8838979" y="361964"/>
                </a:lnTo>
                <a:lnTo>
                  <a:pt x="8991375" y="384929"/>
                </a:lnTo>
                <a:lnTo>
                  <a:pt x="9143771" y="405854"/>
                </a:lnTo>
                <a:lnTo>
                  <a:pt x="9296167" y="424448"/>
                </a:lnTo>
                <a:lnTo>
                  <a:pt x="9448563" y="440454"/>
                </a:lnTo>
                <a:lnTo>
                  <a:pt x="9600959" y="453649"/>
                </a:lnTo>
                <a:lnTo>
                  <a:pt x="9753356" y="463851"/>
                </a:lnTo>
                <a:lnTo>
                  <a:pt x="9905752" y="470919"/>
                </a:lnTo>
                <a:lnTo>
                  <a:pt x="10058148" y="474755"/>
                </a:lnTo>
                <a:lnTo>
                  <a:pt x="10210544" y="475304"/>
                </a:lnTo>
                <a:lnTo>
                  <a:pt x="10362940" y="472560"/>
                </a:lnTo>
                <a:lnTo>
                  <a:pt x="10515337" y="466561"/>
                </a:lnTo>
                <a:lnTo>
                  <a:pt x="10667733" y="457390"/>
                </a:lnTo>
                <a:lnTo>
                  <a:pt x="10820129" y="445174"/>
                </a:lnTo>
                <a:lnTo>
                  <a:pt x="10972525" y="430082"/>
                </a:lnTo>
                <a:lnTo>
                  <a:pt x="11124921" y="412324"/>
                </a:lnTo>
                <a:lnTo>
                  <a:pt x="11277318" y="392146"/>
                </a:lnTo>
                <a:lnTo>
                  <a:pt x="11429714" y="369827"/>
                </a:lnTo>
                <a:lnTo>
                  <a:pt x="11582110" y="345677"/>
                </a:lnTo>
                <a:lnTo>
                  <a:pt x="11734506" y="320031"/>
                </a:lnTo>
                <a:lnTo>
                  <a:pt x="11886902" y="293244"/>
                </a:lnTo>
                <a:lnTo>
                  <a:pt x="12039299" y="265687"/>
                </a:lnTo>
                <a:lnTo>
                  <a:pt x="12191695" y="237744"/>
                </a:lnTo>
                <a:lnTo>
                  <a:pt x="12191695" y="1152144"/>
                </a:lnTo>
                <a:lnTo>
                  <a:pt x="0" y="1152144"/>
                </a:lnTo>
                <a:close/>
              </a:path>
            </a:pathLst>
          </a:cu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1097280"/>
            <a:ext cx="91440" cy="91440"/>
          </a:xfrm>
          <a:prstGeom prst="ellipse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1554480"/>
            <a:ext cx="54864" cy="54864"/>
          </a:xfrm>
          <a:prstGeom prst="ellipse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40" y="1828800"/>
            <a:ext cx="45720" cy="45720"/>
          </a:xfrm>
          <a:prstGeom prst="ellipse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005840"/>
            <a:ext cx="73152" cy="73152"/>
          </a:xfrm>
          <a:prstGeom prst="ellipse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0" y="1280160"/>
            <a:ext cx="36576" cy="36576"/>
          </a:xfrm>
          <a:prstGeom prst="ellipse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strument Sans"/>
              </a:rPr>
              <a:t>Akamai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28800"/>
            <a:ext cx="566928" cy="82296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A4EB"/>
                </a:solidFill>
                <a:latin typeface="Instrument Sans"/>
              </a:rPr>
              <a:t>AI Engineer World's Fair  ·  120-minute hands-on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46888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Instrument Sans"/>
              </a:rPr>
              <a:t>Agents That Own Their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Building production AI agents on dedicated GPUs. Stand up vLLM, drive real load, read the metrics, and tune the server you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2CE"/>
                </a:solidFill>
                <a:latin typeface="Instrument Sans"/>
              </a:rPr>
              <a:t>Du'An Lightfoot  ·  Senior AI Engineer, Akamai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327662"/>
            <a:ext cx="12191695" cy="621778"/>
          </a:xfrm>
          <a:custGeom>
            <a:avLst/>
            <a:gdLst/>
            <a:ahLst/>
            <a:cxnLst/>
            <a:rect l="l" t="t" r="r" b="b"/>
            <a:pathLst>
              <a:path w="12191695" h="621778">
                <a:moveTo>
                  <a:pt x="0" y="118858"/>
                </a:moveTo>
                <a:lnTo>
                  <a:pt x="152396" y="131902"/>
                </a:lnTo>
                <a:lnTo>
                  <a:pt x="304792" y="144789"/>
                </a:lnTo>
                <a:lnTo>
                  <a:pt x="457188" y="157362"/>
                </a:lnTo>
                <a:lnTo>
                  <a:pt x="609584" y="169471"/>
                </a:lnTo>
                <a:lnTo>
                  <a:pt x="761980" y="180968"/>
                </a:lnTo>
                <a:lnTo>
                  <a:pt x="914377" y="191715"/>
                </a:lnTo>
                <a:lnTo>
                  <a:pt x="1066773" y="201582"/>
                </a:lnTo>
                <a:lnTo>
                  <a:pt x="1219169" y="210450"/>
                </a:lnTo>
                <a:lnTo>
                  <a:pt x="1371565" y="218212"/>
                </a:lnTo>
                <a:lnTo>
                  <a:pt x="1523961" y="224773"/>
                </a:lnTo>
                <a:lnTo>
                  <a:pt x="1676358" y="230056"/>
                </a:lnTo>
                <a:lnTo>
                  <a:pt x="1828754" y="233995"/>
                </a:lnTo>
                <a:lnTo>
                  <a:pt x="1981150" y="236544"/>
                </a:lnTo>
                <a:lnTo>
                  <a:pt x="2133546" y="237671"/>
                </a:lnTo>
                <a:lnTo>
                  <a:pt x="2285942" y="237363"/>
                </a:lnTo>
                <a:lnTo>
                  <a:pt x="2438339" y="235624"/>
                </a:lnTo>
                <a:lnTo>
                  <a:pt x="2590735" y="232475"/>
                </a:lnTo>
                <a:lnTo>
                  <a:pt x="2743131" y="227953"/>
                </a:lnTo>
                <a:lnTo>
                  <a:pt x="2895527" y="222113"/>
                </a:lnTo>
                <a:lnTo>
                  <a:pt x="3047923" y="215027"/>
                </a:lnTo>
                <a:lnTo>
                  <a:pt x="3200319" y="206779"/>
                </a:lnTo>
                <a:lnTo>
                  <a:pt x="3352716" y="197469"/>
                </a:lnTo>
                <a:lnTo>
                  <a:pt x="3505112" y="187210"/>
                </a:lnTo>
                <a:lnTo>
                  <a:pt x="3657508" y="176125"/>
                </a:lnTo>
                <a:lnTo>
                  <a:pt x="3809904" y="164348"/>
                </a:lnTo>
                <a:lnTo>
                  <a:pt x="3962300" y="152022"/>
                </a:lnTo>
                <a:lnTo>
                  <a:pt x="4114697" y="139295"/>
                </a:lnTo>
                <a:lnTo>
                  <a:pt x="4267093" y="126322"/>
                </a:lnTo>
                <a:lnTo>
                  <a:pt x="4419489" y="113258"/>
                </a:lnTo>
                <a:lnTo>
                  <a:pt x="4571885" y="100262"/>
                </a:lnTo>
                <a:lnTo>
                  <a:pt x="4724281" y="87490"/>
                </a:lnTo>
                <a:lnTo>
                  <a:pt x="4876678" y="75098"/>
                </a:lnTo>
                <a:lnTo>
                  <a:pt x="5029074" y="63234"/>
                </a:lnTo>
                <a:lnTo>
                  <a:pt x="5181470" y="52042"/>
                </a:lnTo>
                <a:lnTo>
                  <a:pt x="5333866" y="41656"/>
                </a:lnTo>
                <a:lnTo>
                  <a:pt x="5486262" y="32204"/>
                </a:lnTo>
                <a:lnTo>
                  <a:pt x="5638659" y="23797"/>
                </a:lnTo>
                <a:lnTo>
                  <a:pt x="5791055" y="16539"/>
                </a:lnTo>
                <a:lnTo>
                  <a:pt x="5943451" y="10517"/>
                </a:lnTo>
                <a:lnTo>
                  <a:pt x="6095847" y="5804"/>
                </a:lnTo>
                <a:lnTo>
                  <a:pt x="6248243" y="2455"/>
                </a:lnTo>
                <a:lnTo>
                  <a:pt x="6400639" y="513"/>
                </a:lnTo>
                <a:lnTo>
                  <a:pt x="6553036" y="0"/>
                </a:lnTo>
                <a:lnTo>
                  <a:pt x="6705432" y="923"/>
                </a:lnTo>
                <a:lnTo>
                  <a:pt x="6857828" y="3270"/>
                </a:lnTo>
                <a:lnTo>
                  <a:pt x="7010224" y="7013"/>
                </a:lnTo>
                <a:lnTo>
                  <a:pt x="7162620" y="12107"/>
                </a:lnTo>
                <a:lnTo>
                  <a:pt x="7315017" y="18491"/>
                </a:lnTo>
                <a:lnTo>
                  <a:pt x="7467413" y="26086"/>
                </a:lnTo>
                <a:lnTo>
                  <a:pt x="7619809" y="34802"/>
                </a:lnTo>
                <a:lnTo>
                  <a:pt x="7772205" y="44534"/>
                </a:lnTo>
                <a:lnTo>
                  <a:pt x="7924601" y="55163"/>
                </a:lnTo>
                <a:lnTo>
                  <a:pt x="8076998" y="66561"/>
                </a:lnTo>
                <a:lnTo>
                  <a:pt x="8229394" y="78591"/>
                </a:lnTo>
                <a:lnTo>
                  <a:pt x="8381790" y="91107"/>
                </a:lnTo>
                <a:lnTo>
                  <a:pt x="8534186" y="103959"/>
                </a:lnTo>
                <a:lnTo>
                  <a:pt x="8686582" y="116990"/>
                </a:lnTo>
                <a:lnTo>
                  <a:pt x="8838979" y="130044"/>
                </a:lnTo>
                <a:lnTo>
                  <a:pt x="8991375" y="142963"/>
                </a:lnTo>
                <a:lnTo>
                  <a:pt x="9143771" y="155591"/>
                </a:lnTo>
                <a:lnTo>
                  <a:pt x="9296167" y="167775"/>
                </a:lnTo>
                <a:lnTo>
                  <a:pt x="9448563" y="179368"/>
                </a:lnTo>
                <a:lnTo>
                  <a:pt x="9600959" y="190231"/>
                </a:lnTo>
                <a:lnTo>
                  <a:pt x="9753356" y="200231"/>
                </a:lnTo>
                <a:lnTo>
                  <a:pt x="9905752" y="209248"/>
                </a:lnTo>
                <a:lnTo>
                  <a:pt x="10058148" y="217174"/>
                </a:lnTo>
                <a:lnTo>
                  <a:pt x="10210544" y="223912"/>
                </a:lnTo>
                <a:lnTo>
                  <a:pt x="10362940" y="229382"/>
                </a:lnTo>
                <a:lnTo>
                  <a:pt x="10515337" y="233516"/>
                </a:lnTo>
                <a:lnTo>
                  <a:pt x="10667733" y="236266"/>
                </a:lnTo>
                <a:lnTo>
                  <a:pt x="10820129" y="237598"/>
                </a:lnTo>
                <a:lnTo>
                  <a:pt x="10972525" y="237495"/>
                </a:lnTo>
                <a:lnTo>
                  <a:pt x="11124921" y="235959"/>
                </a:lnTo>
                <a:lnTo>
                  <a:pt x="11277318" y="233010"/>
                </a:lnTo>
                <a:lnTo>
                  <a:pt x="11429714" y="228681"/>
                </a:lnTo>
                <a:lnTo>
                  <a:pt x="11582110" y="223026"/>
                </a:lnTo>
                <a:lnTo>
                  <a:pt x="11734506" y="216113"/>
                </a:lnTo>
                <a:lnTo>
                  <a:pt x="11886902" y="208025"/>
                </a:lnTo>
                <a:lnTo>
                  <a:pt x="12039299" y="198860"/>
                </a:lnTo>
                <a:lnTo>
                  <a:pt x="12191695" y="188729"/>
                </a:lnTo>
                <a:lnTo>
                  <a:pt x="12191695" y="621778"/>
                </a:lnTo>
                <a:lnTo>
                  <a:pt x="0" y="621778"/>
                </a:lnTo>
                <a:close/>
              </a:path>
            </a:pathLst>
          </a:custGeom>
          <a:solidFill>
            <a:srgbClr val="00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COLD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Instrument Sans"/>
              </a:rPr>
              <a:t>Every production agent today is </a:t>
            </a:r>
            <a:r>
              <a:rPr sz="3800" b="1">
                <a:solidFill>
                  <a:srgbClr val="FF8B00"/>
                </a:solidFill>
                <a:latin typeface="Instrument Sans"/>
              </a:rPr>
              <a:t>renting</a:t>
            </a:r>
            <a:r>
              <a:rPr sz="3800" b="1">
                <a:solidFill>
                  <a:srgbClr val="FFFFFF"/>
                </a:solidFill>
                <a:latin typeface="Instrument Sans"/>
              </a:rPr>
              <a:t> its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You pay per token, and the bill grows with every user.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You send your data to someone else's servers.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You inherit their rate limits, exactly when a launch needs headroom.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44068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001B40"/>
          </a:solidFill>
          <a:ln w="12700">
            <a:solidFill>
              <a:srgbClr val="00A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440680"/>
            <a:ext cx="82296" cy="822960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41264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Instrument Sans"/>
              </a:rPr>
              <a:t>Per-token pricing scales linearly with usage. A dedicated GPU is a fixed cost per hour. Somewhere between the two is a crossover you can compute.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WHO CARRIES THE 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For four kinds of teams, renting becomes a 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Regulated industries.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Your prompts and data leave your boundary on every call.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High-volume products.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The token bill is linear and uncapped; it grows with every user.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Latency-sensitive workloads.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You cannot tune a queue you do not own.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Rising token bills.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Past some volume, a fixed GPU cost is cheaper than per-token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Rent versus own is arithmetic, not ideology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1A2A"/>
                </a:solidFill>
                <a:latin typeface="Instrument Sans"/>
              </a:rPr>
              <a:t>Rent (hosted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9"/>
                </a:solidFill>
                <a:latin typeface="Instrument Sans"/>
              </a:rPr>
              <a:t>Your tokens on someone else's GPUs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64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50691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246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Data leaves your network on every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77647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62755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75818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Cost = tokens x price, linear forever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88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748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The provider sets your rate limit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8006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8688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7823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Zero ops to 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874519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ECF6FE"/>
          </a:solidFill>
          <a:ln w="25400">
            <a:solidFill>
              <a:srgbClr val="00A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148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F6C"/>
                </a:solidFill>
                <a:latin typeface="Instrument Sans"/>
              </a:rPr>
              <a:t>Own (dedicated GPU)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9"/>
                </a:solidFill>
                <a:latin typeface="Instrument Sans"/>
              </a:rPr>
              <a:t>Your card, your cluster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264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250691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3246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Data stays inside your cluster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77647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762755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375818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Cost = GPU hours, fixed regardless of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288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748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The only ceiling is the card you provisioned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8006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78688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47823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You tune the server for your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WHAT YOU DO IN THE NEXT TWO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Today you build on infrastructure you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Stand up vLLM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on your dedicated GPU.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Point your agent at it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with one change: the base URL.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Drive concurrent load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until the metrics show you batching, KV cache pressure, and the throughput limit.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Then optimize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lift throughput while you hold per-request latency in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925313"/>
            <a:ext cx="12191695" cy="1024127"/>
          </a:xfrm>
          <a:custGeom>
            <a:avLst/>
            <a:gdLst/>
            <a:ahLst/>
            <a:cxnLst/>
            <a:rect l="l" t="t" r="r" b="b"/>
            <a:pathLst>
              <a:path w="12191695" h="1024127">
                <a:moveTo>
                  <a:pt x="0" y="241132"/>
                </a:moveTo>
                <a:lnTo>
                  <a:pt x="152396" y="262526"/>
                </a:lnTo>
                <a:lnTo>
                  <a:pt x="304792" y="283179"/>
                </a:lnTo>
                <a:lnTo>
                  <a:pt x="457188" y="302841"/>
                </a:lnTo>
                <a:lnTo>
                  <a:pt x="609584" y="321275"/>
                </a:lnTo>
                <a:lnTo>
                  <a:pt x="761980" y="338258"/>
                </a:lnTo>
                <a:lnTo>
                  <a:pt x="914377" y="353585"/>
                </a:lnTo>
                <a:lnTo>
                  <a:pt x="1066773" y="367072"/>
                </a:lnTo>
                <a:lnTo>
                  <a:pt x="1219169" y="378555"/>
                </a:lnTo>
                <a:lnTo>
                  <a:pt x="1371565" y="387895"/>
                </a:lnTo>
                <a:lnTo>
                  <a:pt x="1523961" y="394980"/>
                </a:lnTo>
                <a:lnTo>
                  <a:pt x="1676358" y="399724"/>
                </a:lnTo>
                <a:lnTo>
                  <a:pt x="1828754" y="402070"/>
                </a:lnTo>
                <a:lnTo>
                  <a:pt x="1981150" y="401989"/>
                </a:lnTo>
                <a:lnTo>
                  <a:pt x="2133546" y="399483"/>
                </a:lnTo>
                <a:lnTo>
                  <a:pt x="2285942" y="394581"/>
                </a:lnTo>
                <a:lnTo>
                  <a:pt x="2438339" y="387343"/>
                </a:lnTo>
                <a:lnTo>
                  <a:pt x="2590735" y="377857"/>
                </a:lnTo>
                <a:lnTo>
                  <a:pt x="2743131" y="366237"/>
                </a:lnTo>
                <a:lnTo>
                  <a:pt x="2895527" y="352623"/>
                </a:lnTo>
                <a:lnTo>
                  <a:pt x="3047923" y="337179"/>
                </a:lnTo>
                <a:lnTo>
                  <a:pt x="3200319" y="320093"/>
                </a:lnTo>
                <a:lnTo>
                  <a:pt x="3352716" y="301571"/>
                </a:lnTo>
                <a:lnTo>
                  <a:pt x="3505112" y="281835"/>
                </a:lnTo>
                <a:lnTo>
                  <a:pt x="3657508" y="261126"/>
                </a:lnTo>
                <a:lnTo>
                  <a:pt x="3809904" y="239692"/>
                </a:lnTo>
                <a:lnTo>
                  <a:pt x="3962300" y="217793"/>
                </a:lnTo>
                <a:lnTo>
                  <a:pt x="4114697" y="195693"/>
                </a:lnTo>
                <a:lnTo>
                  <a:pt x="4267093" y="173659"/>
                </a:lnTo>
                <a:lnTo>
                  <a:pt x="4419489" y="151958"/>
                </a:lnTo>
                <a:lnTo>
                  <a:pt x="4571885" y="130850"/>
                </a:lnTo>
                <a:lnTo>
                  <a:pt x="4724281" y="110592"/>
                </a:lnTo>
                <a:lnTo>
                  <a:pt x="4876678" y="91428"/>
                </a:lnTo>
                <a:lnTo>
                  <a:pt x="5029074" y="73590"/>
                </a:lnTo>
                <a:lnTo>
                  <a:pt x="5181470" y="57292"/>
                </a:lnTo>
                <a:lnTo>
                  <a:pt x="5333866" y="42732"/>
                </a:lnTo>
                <a:lnTo>
                  <a:pt x="5486262" y="30086"/>
                </a:lnTo>
                <a:lnTo>
                  <a:pt x="5638659" y="19506"/>
                </a:lnTo>
                <a:lnTo>
                  <a:pt x="5791055" y="11120"/>
                </a:lnTo>
                <a:lnTo>
                  <a:pt x="5943451" y="5029"/>
                </a:lnTo>
                <a:lnTo>
                  <a:pt x="6095847" y="1308"/>
                </a:lnTo>
                <a:lnTo>
                  <a:pt x="6248243" y="0"/>
                </a:lnTo>
                <a:lnTo>
                  <a:pt x="6400639" y="1122"/>
                </a:lnTo>
                <a:lnTo>
                  <a:pt x="6553036" y="4661"/>
                </a:lnTo>
                <a:lnTo>
                  <a:pt x="6705432" y="10572"/>
                </a:lnTo>
                <a:lnTo>
                  <a:pt x="6857828" y="18786"/>
                </a:lnTo>
                <a:lnTo>
                  <a:pt x="7010224" y="29202"/>
                </a:lnTo>
                <a:lnTo>
                  <a:pt x="7162620" y="41696"/>
                </a:lnTo>
                <a:lnTo>
                  <a:pt x="7315017" y="56115"/>
                </a:lnTo>
                <a:lnTo>
                  <a:pt x="7467413" y="72287"/>
                </a:lnTo>
                <a:lnTo>
                  <a:pt x="7619809" y="90015"/>
                </a:lnTo>
                <a:lnTo>
                  <a:pt x="7772205" y="109086"/>
                </a:lnTo>
                <a:lnTo>
                  <a:pt x="7924601" y="129268"/>
                </a:lnTo>
                <a:lnTo>
                  <a:pt x="8076998" y="150319"/>
                </a:lnTo>
                <a:lnTo>
                  <a:pt x="8229394" y="171985"/>
                </a:lnTo>
                <a:lnTo>
                  <a:pt x="8381790" y="194003"/>
                </a:lnTo>
                <a:lnTo>
                  <a:pt x="8534186" y="216107"/>
                </a:lnTo>
                <a:lnTo>
                  <a:pt x="8686582" y="238031"/>
                </a:lnTo>
                <a:lnTo>
                  <a:pt x="8838979" y="259509"/>
                </a:lnTo>
                <a:lnTo>
                  <a:pt x="8991375" y="280283"/>
                </a:lnTo>
                <a:lnTo>
                  <a:pt x="9143771" y="300102"/>
                </a:lnTo>
                <a:lnTo>
                  <a:pt x="9296167" y="318725"/>
                </a:lnTo>
                <a:lnTo>
                  <a:pt x="9448563" y="335928"/>
                </a:lnTo>
                <a:lnTo>
                  <a:pt x="9600959" y="351504"/>
                </a:lnTo>
                <a:lnTo>
                  <a:pt x="9753356" y="365264"/>
                </a:lnTo>
                <a:lnTo>
                  <a:pt x="9905752" y="377042"/>
                </a:lnTo>
                <a:lnTo>
                  <a:pt x="10058148" y="386696"/>
                </a:lnTo>
                <a:lnTo>
                  <a:pt x="10210544" y="394109"/>
                </a:lnTo>
                <a:lnTo>
                  <a:pt x="10362940" y="399192"/>
                </a:lnTo>
                <a:lnTo>
                  <a:pt x="10515337" y="401883"/>
                </a:lnTo>
                <a:lnTo>
                  <a:pt x="10667733" y="402149"/>
                </a:lnTo>
                <a:lnTo>
                  <a:pt x="10820129" y="399988"/>
                </a:lnTo>
                <a:lnTo>
                  <a:pt x="10972525" y="395426"/>
                </a:lnTo>
                <a:lnTo>
                  <a:pt x="11124921" y="388517"/>
                </a:lnTo>
                <a:lnTo>
                  <a:pt x="11277318" y="379346"/>
                </a:lnTo>
                <a:lnTo>
                  <a:pt x="11429714" y="368022"/>
                </a:lnTo>
                <a:lnTo>
                  <a:pt x="11582110" y="354684"/>
                </a:lnTo>
                <a:lnTo>
                  <a:pt x="11734506" y="339491"/>
                </a:lnTo>
                <a:lnTo>
                  <a:pt x="11886902" y="322627"/>
                </a:lnTo>
                <a:lnTo>
                  <a:pt x="12039299" y="304296"/>
                </a:lnTo>
                <a:lnTo>
                  <a:pt x="12191695" y="284720"/>
                </a:lnTo>
                <a:lnTo>
                  <a:pt x="12191695" y="1024127"/>
                </a:lnTo>
                <a:lnTo>
                  <a:pt x="0" y="1024127"/>
                </a:lnTo>
                <a:close/>
              </a:path>
            </a:pathLst>
          </a:cu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00A4EB"/>
                </a:solidFill>
                <a:latin typeface="Instrument San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640080" cy="73152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Instrument Sans"/>
              </a:rPr>
              <a:t>First, the machine under the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0292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6EC"/>
                </a:solidFill>
                <a:latin typeface="Instrument Sans"/>
              </a:rPr>
              <a:t>Four mental models the labs make visible: prefill and decode, the KV cache, continuous batching, and the saturation knee.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BEFORE THE MENTAL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Start with the units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units_fou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315" y="1828800"/>
            <a:ext cx="6251065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9"/>
                </a:solidFill>
                <a:latin typeface="Instrument Sans"/>
              </a:rPr>
              <a:t>A parameter stored in bytes, a model sized in GB, a token of about four characters, and a card described by VRAM and bandwidth. Everything later is built from these.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TWO NUMBERS ABOUT YOUR CARD, ONE ABOUT YOUR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How big is a 4B model, and how fast can it talk?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Size = parameters x bytes per parameter.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A 4B model at 2 bytes (FP16 or BF16) is about 8 GB of weights.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Speed of one request = bandwidth / size.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Reloading 8 GB per token on a 360 GB/s card is near 45 tokens per second.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The bill and the cache are counted in tokens.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A token is about 4 characters, roughly three quarters of a word.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9"/>
                </a:solidFill>
                <a:latin typeface="Instrument Sans"/>
              </a:rPr>
              <a:t>Model size, VRAM, and bandwidth. These three numbers decide everything that follows.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AUTOREGRESSIVE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A model generates one token per forward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Each pass loads the full weight set from VRAM, does one matrix-vector product, samples a token, and appends it to the KV cache.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A 1000-token answer is 1000 sequential weight loads.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This is why decode speed tracks memory bandwidth, not raw compute.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TWO PHASES, TWO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Prefill and decode are different machines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1A2A"/>
                </a:solidFill>
                <a:latin typeface="Instrument Sans"/>
              </a:rPr>
              <a:t>Prefill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9"/>
                </a:solidFill>
                <a:latin typeface="Instrument Sans"/>
              </a:rPr>
              <a:t>The whole prompt at once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64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50691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246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Matrix-matrix multiply (GEMM)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77647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62755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75818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Compute-bound: the tensor cores are busy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88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748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Sets time to first token (TTFT)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8006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8688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7823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Lever: batch prefills, add compute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874519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ECF6FE"/>
          </a:solidFill>
          <a:ln w="25400">
            <a:solidFill>
              <a:srgbClr val="00A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148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F6C"/>
                </a:solidFill>
                <a:latin typeface="Instrument Sans"/>
              </a:rPr>
              <a:t>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9"/>
                </a:solidFill>
                <a:latin typeface="Instrument Sans"/>
              </a:rPr>
              <a:t>One token per 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264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250691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3246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Matrix-vector multiply (GEMV)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77647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762755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375818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Memory-bound: bandwidth is the wall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288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748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Sets time per output token (TPOT)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8006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786884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4782312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Lever: batch decode, or quantize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ROOFLINE, IN ONE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Below the ridge point, you are memory-bound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roofline_ridge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640" y="1828800"/>
            <a:ext cx="7532413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9"/>
                </a:solidFill>
                <a:latin typeface="Instrument Sans"/>
              </a:rPr>
              <a:t>Ridge point = peak compute / memory bandwidth. One decode request sits far down the memory-bound slope; batching walks it toward the ridge.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327662"/>
            <a:ext cx="12191695" cy="621778"/>
          </a:xfrm>
          <a:custGeom>
            <a:avLst/>
            <a:gdLst/>
            <a:ahLst/>
            <a:cxnLst/>
            <a:rect l="l" t="t" r="r" b="b"/>
            <a:pathLst>
              <a:path w="12191695" h="621778">
                <a:moveTo>
                  <a:pt x="0" y="118858"/>
                </a:moveTo>
                <a:lnTo>
                  <a:pt x="152396" y="131902"/>
                </a:lnTo>
                <a:lnTo>
                  <a:pt x="304792" y="144789"/>
                </a:lnTo>
                <a:lnTo>
                  <a:pt x="457188" y="157362"/>
                </a:lnTo>
                <a:lnTo>
                  <a:pt x="609584" y="169471"/>
                </a:lnTo>
                <a:lnTo>
                  <a:pt x="761980" y="180968"/>
                </a:lnTo>
                <a:lnTo>
                  <a:pt x="914377" y="191715"/>
                </a:lnTo>
                <a:lnTo>
                  <a:pt x="1066773" y="201582"/>
                </a:lnTo>
                <a:lnTo>
                  <a:pt x="1219169" y="210450"/>
                </a:lnTo>
                <a:lnTo>
                  <a:pt x="1371565" y="218212"/>
                </a:lnTo>
                <a:lnTo>
                  <a:pt x="1523961" y="224773"/>
                </a:lnTo>
                <a:lnTo>
                  <a:pt x="1676358" y="230056"/>
                </a:lnTo>
                <a:lnTo>
                  <a:pt x="1828754" y="233995"/>
                </a:lnTo>
                <a:lnTo>
                  <a:pt x="1981150" y="236544"/>
                </a:lnTo>
                <a:lnTo>
                  <a:pt x="2133546" y="237671"/>
                </a:lnTo>
                <a:lnTo>
                  <a:pt x="2285942" y="237363"/>
                </a:lnTo>
                <a:lnTo>
                  <a:pt x="2438339" y="235624"/>
                </a:lnTo>
                <a:lnTo>
                  <a:pt x="2590735" y="232475"/>
                </a:lnTo>
                <a:lnTo>
                  <a:pt x="2743131" y="227953"/>
                </a:lnTo>
                <a:lnTo>
                  <a:pt x="2895527" y="222113"/>
                </a:lnTo>
                <a:lnTo>
                  <a:pt x="3047923" y="215027"/>
                </a:lnTo>
                <a:lnTo>
                  <a:pt x="3200319" y="206779"/>
                </a:lnTo>
                <a:lnTo>
                  <a:pt x="3352716" y="197469"/>
                </a:lnTo>
                <a:lnTo>
                  <a:pt x="3505112" y="187210"/>
                </a:lnTo>
                <a:lnTo>
                  <a:pt x="3657508" y="176125"/>
                </a:lnTo>
                <a:lnTo>
                  <a:pt x="3809904" y="164348"/>
                </a:lnTo>
                <a:lnTo>
                  <a:pt x="3962300" y="152022"/>
                </a:lnTo>
                <a:lnTo>
                  <a:pt x="4114697" y="139295"/>
                </a:lnTo>
                <a:lnTo>
                  <a:pt x="4267093" y="126322"/>
                </a:lnTo>
                <a:lnTo>
                  <a:pt x="4419489" y="113258"/>
                </a:lnTo>
                <a:lnTo>
                  <a:pt x="4571885" y="100262"/>
                </a:lnTo>
                <a:lnTo>
                  <a:pt x="4724281" y="87490"/>
                </a:lnTo>
                <a:lnTo>
                  <a:pt x="4876678" y="75098"/>
                </a:lnTo>
                <a:lnTo>
                  <a:pt x="5029074" y="63234"/>
                </a:lnTo>
                <a:lnTo>
                  <a:pt x="5181470" y="52042"/>
                </a:lnTo>
                <a:lnTo>
                  <a:pt x="5333866" y="41656"/>
                </a:lnTo>
                <a:lnTo>
                  <a:pt x="5486262" y="32204"/>
                </a:lnTo>
                <a:lnTo>
                  <a:pt x="5638659" y="23797"/>
                </a:lnTo>
                <a:lnTo>
                  <a:pt x="5791055" y="16539"/>
                </a:lnTo>
                <a:lnTo>
                  <a:pt x="5943451" y="10517"/>
                </a:lnTo>
                <a:lnTo>
                  <a:pt x="6095847" y="5804"/>
                </a:lnTo>
                <a:lnTo>
                  <a:pt x="6248243" y="2455"/>
                </a:lnTo>
                <a:lnTo>
                  <a:pt x="6400639" y="513"/>
                </a:lnTo>
                <a:lnTo>
                  <a:pt x="6553036" y="0"/>
                </a:lnTo>
                <a:lnTo>
                  <a:pt x="6705432" y="923"/>
                </a:lnTo>
                <a:lnTo>
                  <a:pt x="6857828" y="3270"/>
                </a:lnTo>
                <a:lnTo>
                  <a:pt x="7010224" y="7013"/>
                </a:lnTo>
                <a:lnTo>
                  <a:pt x="7162620" y="12107"/>
                </a:lnTo>
                <a:lnTo>
                  <a:pt x="7315017" y="18491"/>
                </a:lnTo>
                <a:lnTo>
                  <a:pt x="7467413" y="26086"/>
                </a:lnTo>
                <a:lnTo>
                  <a:pt x="7619809" y="34802"/>
                </a:lnTo>
                <a:lnTo>
                  <a:pt x="7772205" y="44534"/>
                </a:lnTo>
                <a:lnTo>
                  <a:pt x="7924601" y="55163"/>
                </a:lnTo>
                <a:lnTo>
                  <a:pt x="8076998" y="66561"/>
                </a:lnTo>
                <a:lnTo>
                  <a:pt x="8229394" y="78591"/>
                </a:lnTo>
                <a:lnTo>
                  <a:pt x="8381790" y="91107"/>
                </a:lnTo>
                <a:lnTo>
                  <a:pt x="8534186" y="103959"/>
                </a:lnTo>
                <a:lnTo>
                  <a:pt x="8686582" y="116990"/>
                </a:lnTo>
                <a:lnTo>
                  <a:pt x="8838979" y="130044"/>
                </a:lnTo>
                <a:lnTo>
                  <a:pt x="8991375" y="142963"/>
                </a:lnTo>
                <a:lnTo>
                  <a:pt x="9143771" y="155591"/>
                </a:lnTo>
                <a:lnTo>
                  <a:pt x="9296167" y="167775"/>
                </a:lnTo>
                <a:lnTo>
                  <a:pt x="9448563" y="179368"/>
                </a:lnTo>
                <a:lnTo>
                  <a:pt x="9600959" y="190231"/>
                </a:lnTo>
                <a:lnTo>
                  <a:pt x="9753356" y="200231"/>
                </a:lnTo>
                <a:lnTo>
                  <a:pt x="9905752" y="209248"/>
                </a:lnTo>
                <a:lnTo>
                  <a:pt x="10058148" y="217174"/>
                </a:lnTo>
                <a:lnTo>
                  <a:pt x="10210544" y="223912"/>
                </a:lnTo>
                <a:lnTo>
                  <a:pt x="10362940" y="229382"/>
                </a:lnTo>
                <a:lnTo>
                  <a:pt x="10515337" y="233516"/>
                </a:lnTo>
                <a:lnTo>
                  <a:pt x="10667733" y="236266"/>
                </a:lnTo>
                <a:lnTo>
                  <a:pt x="10820129" y="237598"/>
                </a:lnTo>
                <a:lnTo>
                  <a:pt x="10972525" y="237495"/>
                </a:lnTo>
                <a:lnTo>
                  <a:pt x="11124921" y="235959"/>
                </a:lnTo>
                <a:lnTo>
                  <a:pt x="11277318" y="233010"/>
                </a:lnTo>
                <a:lnTo>
                  <a:pt x="11429714" y="228681"/>
                </a:lnTo>
                <a:lnTo>
                  <a:pt x="11582110" y="223026"/>
                </a:lnTo>
                <a:lnTo>
                  <a:pt x="11734506" y="216113"/>
                </a:lnTo>
                <a:lnTo>
                  <a:pt x="11886902" y="208025"/>
                </a:lnTo>
                <a:lnTo>
                  <a:pt x="12039299" y="198860"/>
                </a:lnTo>
                <a:lnTo>
                  <a:pt x="12191695" y="188729"/>
                </a:lnTo>
                <a:lnTo>
                  <a:pt x="12191695" y="621778"/>
                </a:lnTo>
                <a:lnTo>
                  <a:pt x="0" y="621778"/>
                </a:lnTo>
                <a:close/>
              </a:path>
            </a:pathLst>
          </a:custGeom>
          <a:solidFill>
            <a:srgbClr val="00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DECODE TAX, QUANTIFIED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Instrument Sans"/>
              </a:rPr>
              <a:t>At batch size one, decode wastes most of the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A single request reloads every weight to produce one token.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Memory bandwidth is saturated while the tensor cores sit nearly idle.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The fix is not a faster clock. It is more requests sharing each weight 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44068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001B40"/>
          </a:solidFill>
          <a:ln w="12700">
            <a:solidFill>
              <a:srgbClr val="00A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440680"/>
            <a:ext cx="82296" cy="822960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41264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Instrument Sans"/>
              </a:rPr>
              <a:t>One decode request, ~8 GB of weights, a ~360 GB/s card: a ceiling near 45 tokens/s, no matter the software. You are using a fraction of what you paid for.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WHY THE KV CACHE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The KV cache trades recomputation for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Without it, generating n tokens after a p-token prompt reprocesses the prefix every step, on the order of n-squared work.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With it, each step computes the key and value for just the new token. Decode goes linear.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The cache lives in VRAM and grows with every token and every concurrent 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9"/>
                </a:solidFill>
                <a:latin typeface="Instrument Sans"/>
              </a:rPr>
              <a:t>Without a cache, 1000 tokens on a 500-token prompt is about a million token-forward-passes. With it, 1000 single-token steps.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MEMORY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Your VRAM budget sets your concurrency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kv_cache_memory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722" y="1828800"/>
            <a:ext cx="682625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9"/>
                </a:solidFill>
                <a:latin typeface="Instrument Sans"/>
              </a:rPr>
              <a:t>KV bytes per token = 2 x layers x kv_heads x head_dim x bytes. Weights are fixed; the cache is the variable that decides how many requests fit.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QUANTIZATION MOVES THE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Smaller weights buy back KV headroom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quantization_format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537" y="1828800"/>
            <a:ext cx="8140621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9"/>
                </a:solidFill>
                <a:latin typeface="Instrument Sans"/>
              </a:rPr>
              <a:t>FP8 halves the weights, so the freed memory becomes cache at the same utilization. Weights are safe to quantize; attention is not.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FIX VLLM 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Continuous batching keeps the GPU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1A2A"/>
                </a:solidFill>
                <a:latin typeface="Instrument Sans"/>
              </a:rPr>
              <a:t>Static batching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9"/>
                </a:solidFill>
                <a:latin typeface="Instrument Sans"/>
              </a:rPr>
              <a:t>Pad to the longest, hold every slot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64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50691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246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Short requests finish early, slots sit idle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77647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62755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75818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About 56% slot utilization on mixed lengths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88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748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A 1000 tok/s GPU yields about 560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874519"/>
            <a:ext cx="5120640" cy="4114800"/>
          </a:xfrm>
          <a:prstGeom prst="roundRect">
            <a:avLst>
              <a:gd name="adj" fmla="val 6000"/>
            </a:avLst>
          </a:prstGeom>
          <a:solidFill>
            <a:srgbClr val="ECF6FE"/>
          </a:solidFill>
          <a:ln w="25400">
            <a:solidFill>
              <a:srgbClr val="00A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1488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2F6C"/>
                </a:solidFill>
                <a:latin typeface="Instrument Sans"/>
              </a:rPr>
              <a:t>Continuous batching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679"/>
                </a:solidFill>
                <a:latin typeface="Instrument Sans"/>
              </a:rPr>
              <a:t>Refill slots every iteration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2644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250691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3246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Finished sequences leave, waiting ones enter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776471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762755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3758183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Utilization holds above 95%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288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FA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274820"/>
            <a:ext cx="256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nstrument San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42702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21A2A"/>
                </a:solidFill>
                <a:latin typeface="Instrument Sans"/>
              </a:rPr>
              <a:t>The single biggest throughput technique in vLLM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BATCHING IS THE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More concurrent requests move decode toward compute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One weight load serves one token at batch 1. At batch B it serves B tokens.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Same memory traffic, B times the output. Arithmetic intensity rises with B.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This is the quantitative reason concurrency, not a faster clock, is the decode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9"/>
                </a:solidFill>
                <a:latin typeface="Instrument Sans"/>
              </a:rPr>
              <a:t>num_requests_running shows the batch forming. max-num-seqs and max-num-batched-tokens are the knobs that set how full it gets.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925313"/>
            <a:ext cx="12191695" cy="1024127"/>
          </a:xfrm>
          <a:custGeom>
            <a:avLst/>
            <a:gdLst/>
            <a:ahLst/>
            <a:cxnLst/>
            <a:rect l="l" t="t" r="r" b="b"/>
            <a:pathLst>
              <a:path w="12191695" h="1024127">
                <a:moveTo>
                  <a:pt x="0" y="241132"/>
                </a:moveTo>
                <a:lnTo>
                  <a:pt x="152396" y="262526"/>
                </a:lnTo>
                <a:lnTo>
                  <a:pt x="304792" y="283179"/>
                </a:lnTo>
                <a:lnTo>
                  <a:pt x="457188" y="302841"/>
                </a:lnTo>
                <a:lnTo>
                  <a:pt x="609584" y="321275"/>
                </a:lnTo>
                <a:lnTo>
                  <a:pt x="761980" y="338258"/>
                </a:lnTo>
                <a:lnTo>
                  <a:pt x="914377" y="353585"/>
                </a:lnTo>
                <a:lnTo>
                  <a:pt x="1066773" y="367072"/>
                </a:lnTo>
                <a:lnTo>
                  <a:pt x="1219169" y="378555"/>
                </a:lnTo>
                <a:lnTo>
                  <a:pt x="1371565" y="387895"/>
                </a:lnTo>
                <a:lnTo>
                  <a:pt x="1523961" y="394980"/>
                </a:lnTo>
                <a:lnTo>
                  <a:pt x="1676358" y="399724"/>
                </a:lnTo>
                <a:lnTo>
                  <a:pt x="1828754" y="402070"/>
                </a:lnTo>
                <a:lnTo>
                  <a:pt x="1981150" y="401989"/>
                </a:lnTo>
                <a:lnTo>
                  <a:pt x="2133546" y="399483"/>
                </a:lnTo>
                <a:lnTo>
                  <a:pt x="2285942" y="394581"/>
                </a:lnTo>
                <a:lnTo>
                  <a:pt x="2438339" y="387343"/>
                </a:lnTo>
                <a:lnTo>
                  <a:pt x="2590735" y="377857"/>
                </a:lnTo>
                <a:lnTo>
                  <a:pt x="2743131" y="366237"/>
                </a:lnTo>
                <a:lnTo>
                  <a:pt x="2895527" y="352623"/>
                </a:lnTo>
                <a:lnTo>
                  <a:pt x="3047923" y="337179"/>
                </a:lnTo>
                <a:lnTo>
                  <a:pt x="3200319" y="320093"/>
                </a:lnTo>
                <a:lnTo>
                  <a:pt x="3352716" y="301571"/>
                </a:lnTo>
                <a:lnTo>
                  <a:pt x="3505112" y="281835"/>
                </a:lnTo>
                <a:lnTo>
                  <a:pt x="3657508" y="261126"/>
                </a:lnTo>
                <a:lnTo>
                  <a:pt x="3809904" y="239692"/>
                </a:lnTo>
                <a:lnTo>
                  <a:pt x="3962300" y="217793"/>
                </a:lnTo>
                <a:lnTo>
                  <a:pt x="4114697" y="195693"/>
                </a:lnTo>
                <a:lnTo>
                  <a:pt x="4267093" y="173659"/>
                </a:lnTo>
                <a:lnTo>
                  <a:pt x="4419489" y="151958"/>
                </a:lnTo>
                <a:lnTo>
                  <a:pt x="4571885" y="130850"/>
                </a:lnTo>
                <a:lnTo>
                  <a:pt x="4724281" y="110592"/>
                </a:lnTo>
                <a:lnTo>
                  <a:pt x="4876678" y="91428"/>
                </a:lnTo>
                <a:lnTo>
                  <a:pt x="5029074" y="73590"/>
                </a:lnTo>
                <a:lnTo>
                  <a:pt x="5181470" y="57292"/>
                </a:lnTo>
                <a:lnTo>
                  <a:pt x="5333866" y="42732"/>
                </a:lnTo>
                <a:lnTo>
                  <a:pt x="5486262" y="30086"/>
                </a:lnTo>
                <a:lnTo>
                  <a:pt x="5638659" y="19506"/>
                </a:lnTo>
                <a:lnTo>
                  <a:pt x="5791055" y="11120"/>
                </a:lnTo>
                <a:lnTo>
                  <a:pt x="5943451" y="5029"/>
                </a:lnTo>
                <a:lnTo>
                  <a:pt x="6095847" y="1308"/>
                </a:lnTo>
                <a:lnTo>
                  <a:pt x="6248243" y="0"/>
                </a:lnTo>
                <a:lnTo>
                  <a:pt x="6400639" y="1122"/>
                </a:lnTo>
                <a:lnTo>
                  <a:pt x="6553036" y="4661"/>
                </a:lnTo>
                <a:lnTo>
                  <a:pt x="6705432" y="10572"/>
                </a:lnTo>
                <a:lnTo>
                  <a:pt x="6857828" y="18786"/>
                </a:lnTo>
                <a:lnTo>
                  <a:pt x="7010224" y="29202"/>
                </a:lnTo>
                <a:lnTo>
                  <a:pt x="7162620" y="41696"/>
                </a:lnTo>
                <a:lnTo>
                  <a:pt x="7315017" y="56115"/>
                </a:lnTo>
                <a:lnTo>
                  <a:pt x="7467413" y="72287"/>
                </a:lnTo>
                <a:lnTo>
                  <a:pt x="7619809" y="90015"/>
                </a:lnTo>
                <a:lnTo>
                  <a:pt x="7772205" y="109086"/>
                </a:lnTo>
                <a:lnTo>
                  <a:pt x="7924601" y="129268"/>
                </a:lnTo>
                <a:lnTo>
                  <a:pt x="8076998" y="150319"/>
                </a:lnTo>
                <a:lnTo>
                  <a:pt x="8229394" y="171985"/>
                </a:lnTo>
                <a:lnTo>
                  <a:pt x="8381790" y="194003"/>
                </a:lnTo>
                <a:lnTo>
                  <a:pt x="8534186" y="216107"/>
                </a:lnTo>
                <a:lnTo>
                  <a:pt x="8686582" y="238031"/>
                </a:lnTo>
                <a:lnTo>
                  <a:pt x="8838979" y="259509"/>
                </a:lnTo>
                <a:lnTo>
                  <a:pt x="8991375" y="280283"/>
                </a:lnTo>
                <a:lnTo>
                  <a:pt x="9143771" y="300102"/>
                </a:lnTo>
                <a:lnTo>
                  <a:pt x="9296167" y="318725"/>
                </a:lnTo>
                <a:lnTo>
                  <a:pt x="9448563" y="335928"/>
                </a:lnTo>
                <a:lnTo>
                  <a:pt x="9600959" y="351504"/>
                </a:lnTo>
                <a:lnTo>
                  <a:pt x="9753356" y="365264"/>
                </a:lnTo>
                <a:lnTo>
                  <a:pt x="9905752" y="377042"/>
                </a:lnTo>
                <a:lnTo>
                  <a:pt x="10058148" y="386696"/>
                </a:lnTo>
                <a:lnTo>
                  <a:pt x="10210544" y="394109"/>
                </a:lnTo>
                <a:lnTo>
                  <a:pt x="10362940" y="399192"/>
                </a:lnTo>
                <a:lnTo>
                  <a:pt x="10515337" y="401883"/>
                </a:lnTo>
                <a:lnTo>
                  <a:pt x="10667733" y="402149"/>
                </a:lnTo>
                <a:lnTo>
                  <a:pt x="10820129" y="399988"/>
                </a:lnTo>
                <a:lnTo>
                  <a:pt x="10972525" y="395426"/>
                </a:lnTo>
                <a:lnTo>
                  <a:pt x="11124921" y="388517"/>
                </a:lnTo>
                <a:lnTo>
                  <a:pt x="11277318" y="379346"/>
                </a:lnTo>
                <a:lnTo>
                  <a:pt x="11429714" y="368022"/>
                </a:lnTo>
                <a:lnTo>
                  <a:pt x="11582110" y="354684"/>
                </a:lnTo>
                <a:lnTo>
                  <a:pt x="11734506" y="339491"/>
                </a:lnTo>
                <a:lnTo>
                  <a:pt x="11886902" y="322627"/>
                </a:lnTo>
                <a:lnTo>
                  <a:pt x="12039299" y="304296"/>
                </a:lnTo>
                <a:lnTo>
                  <a:pt x="12191695" y="284720"/>
                </a:lnTo>
                <a:lnTo>
                  <a:pt x="12191695" y="1024127"/>
                </a:lnTo>
                <a:lnTo>
                  <a:pt x="0" y="1024127"/>
                </a:lnTo>
                <a:close/>
              </a:path>
            </a:pathLst>
          </a:cu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00A4EB"/>
                </a:solidFill>
                <a:latin typeface="Instrument San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640080" cy="73152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Instrument Sans"/>
              </a:rPr>
              <a:t>Now drive it until you can see the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0292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6EC"/>
                </a:solidFill>
                <a:latin typeface="Instrument Sans"/>
              </a:rPr>
              <a:t>Saturate the GPU. Watch the metrics. Find the knee where throughput stops and latency takes off.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SATURATION KNEE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Throughput climbs, then the latency hockey-stick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saturate_your_gpu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99" y="1828800"/>
            <a:ext cx="9038896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9"/>
                </a:solidFill>
                <a:latin typeface="Instrument Sans"/>
              </a:rPr>
              <a:t>Little's Law: requests in the server = arrival rate x time in the server. When num_requests_waiting goes above zero, you have passed the knee.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KV PRESSURE AND PREEMPTION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When the KV cache fills, the server starts evicting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KV cache usage climbs toward 100%.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There is no room left to store attention state for more tokens.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vLLM preempts a running request,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recomputing its cache later to free blocks. num_preemptions_total climbs.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Preemption is the server protecting itself,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and the clearest sign you are past the limit, not a crash.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VLLM METRICS TELL THE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Four numbers characterize the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Throughput.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Total tokens per second across all requests.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TTFT.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The wait before the first token. Prefill-bound.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Inter-token latency.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The gap between streamed tokens. Decode-bound.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1">
                <a:solidFill>
                  <a:srgbClr val="121A2A"/>
                </a:solidFill>
                <a:latin typeface="Instrument Sans"/>
              </a:rPr>
              <a:t>The GPU view.  </a:t>
            </a:r>
            <a:r>
              <a:rPr sz="1800" b="0">
                <a:solidFill>
                  <a:srgbClr val="5B6679"/>
                </a:solidFill>
                <a:latin typeface="Instrument Sans"/>
              </a:rPr>
              <a:t>Cache usage, requests running, requests waiting.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9"/>
                </a:solidFill>
                <a:latin typeface="Instrument Sans"/>
              </a:rPr>
              <a:t>Report percentiles, not means. A wide p50-to-p99 gap is the tail hitting preemption, not steady service.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925313"/>
            <a:ext cx="12191695" cy="1024127"/>
          </a:xfrm>
          <a:custGeom>
            <a:avLst/>
            <a:gdLst/>
            <a:ahLst/>
            <a:cxnLst/>
            <a:rect l="l" t="t" r="r" b="b"/>
            <a:pathLst>
              <a:path w="12191695" h="1024127">
                <a:moveTo>
                  <a:pt x="0" y="241132"/>
                </a:moveTo>
                <a:lnTo>
                  <a:pt x="152396" y="262526"/>
                </a:lnTo>
                <a:lnTo>
                  <a:pt x="304792" y="283179"/>
                </a:lnTo>
                <a:lnTo>
                  <a:pt x="457188" y="302841"/>
                </a:lnTo>
                <a:lnTo>
                  <a:pt x="609584" y="321275"/>
                </a:lnTo>
                <a:lnTo>
                  <a:pt x="761980" y="338258"/>
                </a:lnTo>
                <a:lnTo>
                  <a:pt x="914377" y="353585"/>
                </a:lnTo>
                <a:lnTo>
                  <a:pt x="1066773" y="367072"/>
                </a:lnTo>
                <a:lnTo>
                  <a:pt x="1219169" y="378555"/>
                </a:lnTo>
                <a:lnTo>
                  <a:pt x="1371565" y="387895"/>
                </a:lnTo>
                <a:lnTo>
                  <a:pt x="1523961" y="394980"/>
                </a:lnTo>
                <a:lnTo>
                  <a:pt x="1676358" y="399724"/>
                </a:lnTo>
                <a:lnTo>
                  <a:pt x="1828754" y="402070"/>
                </a:lnTo>
                <a:lnTo>
                  <a:pt x="1981150" y="401989"/>
                </a:lnTo>
                <a:lnTo>
                  <a:pt x="2133546" y="399483"/>
                </a:lnTo>
                <a:lnTo>
                  <a:pt x="2285942" y="394581"/>
                </a:lnTo>
                <a:lnTo>
                  <a:pt x="2438339" y="387343"/>
                </a:lnTo>
                <a:lnTo>
                  <a:pt x="2590735" y="377857"/>
                </a:lnTo>
                <a:lnTo>
                  <a:pt x="2743131" y="366237"/>
                </a:lnTo>
                <a:lnTo>
                  <a:pt x="2895527" y="352623"/>
                </a:lnTo>
                <a:lnTo>
                  <a:pt x="3047923" y="337179"/>
                </a:lnTo>
                <a:lnTo>
                  <a:pt x="3200319" y="320093"/>
                </a:lnTo>
                <a:lnTo>
                  <a:pt x="3352716" y="301571"/>
                </a:lnTo>
                <a:lnTo>
                  <a:pt x="3505112" y="281835"/>
                </a:lnTo>
                <a:lnTo>
                  <a:pt x="3657508" y="261126"/>
                </a:lnTo>
                <a:lnTo>
                  <a:pt x="3809904" y="239692"/>
                </a:lnTo>
                <a:lnTo>
                  <a:pt x="3962300" y="217793"/>
                </a:lnTo>
                <a:lnTo>
                  <a:pt x="4114697" y="195693"/>
                </a:lnTo>
                <a:lnTo>
                  <a:pt x="4267093" y="173659"/>
                </a:lnTo>
                <a:lnTo>
                  <a:pt x="4419489" y="151958"/>
                </a:lnTo>
                <a:lnTo>
                  <a:pt x="4571885" y="130850"/>
                </a:lnTo>
                <a:lnTo>
                  <a:pt x="4724281" y="110592"/>
                </a:lnTo>
                <a:lnTo>
                  <a:pt x="4876678" y="91428"/>
                </a:lnTo>
                <a:lnTo>
                  <a:pt x="5029074" y="73590"/>
                </a:lnTo>
                <a:lnTo>
                  <a:pt x="5181470" y="57292"/>
                </a:lnTo>
                <a:lnTo>
                  <a:pt x="5333866" y="42732"/>
                </a:lnTo>
                <a:lnTo>
                  <a:pt x="5486262" y="30086"/>
                </a:lnTo>
                <a:lnTo>
                  <a:pt x="5638659" y="19506"/>
                </a:lnTo>
                <a:lnTo>
                  <a:pt x="5791055" y="11120"/>
                </a:lnTo>
                <a:lnTo>
                  <a:pt x="5943451" y="5029"/>
                </a:lnTo>
                <a:lnTo>
                  <a:pt x="6095847" y="1308"/>
                </a:lnTo>
                <a:lnTo>
                  <a:pt x="6248243" y="0"/>
                </a:lnTo>
                <a:lnTo>
                  <a:pt x="6400639" y="1122"/>
                </a:lnTo>
                <a:lnTo>
                  <a:pt x="6553036" y="4661"/>
                </a:lnTo>
                <a:lnTo>
                  <a:pt x="6705432" y="10572"/>
                </a:lnTo>
                <a:lnTo>
                  <a:pt x="6857828" y="18786"/>
                </a:lnTo>
                <a:lnTo>
                  <a:pt x="7010224" y="29202"/>
                </a:lnTo>
                <a:lnTo>
                  <a:pt x="7162620" y="41696"/>
                </a:lnTo>
                <a:lnTo>
                  <a:pt x="7315017" y="56115"/>
                </a:lnTo>
                <a:lnTo>
                  <a:pt x="7467413" y="72287"/>
                </a:lnTo>
                <a:lnTo>
                  <a:pt x="7619809" y="90015"/>
                </a:lnTo>
                <a:lnTo>
                  <a:pt x="7772205" y="109086"/>
                </a:lnTo>
                <a:lnTo>
                  <a:pt x="7924601" y="129268"/>
                </a:lnTo>
                <a:lnTo>
                  <a:pt x="8076998" y="150319"/>
                </a:lnTo>
                <a:lnTo>
                  <a:pt x="8229394" y="171985"/>
                </a:lnTo>
                <a:lnTo>
                  <a:pt x="8381790" y="194003"/>
                </a:lnTo>
                <a:lnTo>
                  <a:pt x="8534186" y="216107"/>
                </a:lnTo>
                <a:lnTo>
                  <a:pt x="8686582" y="238031"/>
                </a:lnTo>
                <a:lnTo>
                  <a:pt x="8838979" y="259509"/>
                </a:lnTo>
                <a:lnTo>
                  <a:pt x="8991375" y="280283"/>
                </a:lnTo>
                <a:lnTo>
                  <a:pt x="9143771" y="300102"/>
                </a:lnTo>
                <a:lnTo>
                  <a:pt x="9296167" y="318725"/>
                </a:lnTo>
                <a:lnTo>
                  <a:pt x="9448563" y="335928"/>
                </a:lnTo>
                <a:lnTo>
                  <a:pt x="9600959" y="351504"/>
                </a:lnTo>
                <a:lnTo>
                  <a:pt x="9753356" y="365264"/>
                </a:lnTo>
                <a:lnTo>
                  <a:pt x="9905752" y="377042"/>
                </a:lnTo>
                <a:lnTo>
                  <a:pt x="10058148" y="386696"/>
                </a:lnTo>
                <a:lnTo>
                  <a:pt x="10210544" y="394109"/>
                </a:lnTo>
                <a:lnTo>
                  <a:pt x="10362940" y="399192"/>
                </a:lnTo>
                <a:lnTo>
                  <a:pt x="10515337" y="401883"/>
                </a:lnTo>
                <a:lnTo>
                  <a:pt x="10667733" y="402149"/>
                </a:lnTo>
                <a:lnTo>
                  <a:pt x="10820129" y="399988"/>
                </a:lnTo>
                <a:lnTo>
                  <a:pt x="10972525" y="395426"/>
                </a:lnTo>
                <a:lnTo>
                  <a:pt x="11124921" y="388517"/>
                </a:lnTo>
                <a:lnTo>
                  <a:pt x="11277318" y="379346"/>
                </a:lnTo>
                <a:lnTo>
                  <a:pt x="11429714" y="368022"/>
                </a:lnTo>
                <a:lnTo>
                  <a:pt x="11582110" y="354684"/>
                </a:lnTo>
                <a:lnTo>
                  <a:pt x="11734506" y="339491"/>
                </a:lnTo>
                <a:lnTo>
                  <a:pt x="11886902" y="322627"/>
                </a:lnTo>
                <a:lnTo>
                  <a:pt x="12039299" y="304296"/>
                </a:lnTo>
                <a:lnTo>
                  <a:pt x="12191695" y="284720"/>
                </a:lnTo>
                <a:lnTo>
                  <a:pt x="12191695" y="1024127"/>
                </a:lnTo>
                <a:lnTo>
                  <a:pt x="0" y="1024127"/>
                </a:lnTo>
                <a:close/>
              </a:path>
            </a:pathLst>
          </a:cu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00A4EB"/>
                </a:solidFill>
                <a:latin typeface="Instrument San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640080" cy="73152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Instrument Sans"/>
              </a:rPr>
              <a:t>Change one knob. Measure. Keep what wins.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0292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7D6EC"/>
                </a:solidFill>
                <a:latin typeface="Instrument Sans"/>
              </a:rPr>
              <a:t>Lift throughput without breaking your latency SLO. Prove every change against the metrics, not against a hunch.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FOUR FLAGS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The tune-and-prove loop, on a server you 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optimize_the_serv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89" y="1828800"/>
            <a:ext cx="6021316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9"/>
                </a:solidFill>
                <a:latin typeface="Instrument Sans"/>
              </a:rPr>
              <a:t>Measure, read the metrics, change one engine flag, redeploy, re-measure. The metrics pick the next flag, not a hunch.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272799"/>
            <a:ext cx="12191695" cy="676641"/>
          </a:xfrm>
          <a:custGeom>
            <a:avLst/>
            <a:gdLst/>
            <a:ahLst/>
            <a:cxnLst/>
            <a:rect l="l" t="t" r="r" b="b"/>
            <a:pathLst>
              <a:path w="12191695" h="676641">
                <a:moveTo>
                  <a:pt x="0" y="128001"/>
                </a:moveTo>
                <a:lnTo>
                  <a:pt x="152396" y="142048"/>
                </a:lnTo>
                <a:lnTo>
                  <a:pt x="304792" y="155926"/>
                </a:lnTo>
                <a:lnTo>
                  <a:pt x="457188" y="169467"/>
                </a:lnTo>
                <a:lnTo>
                  <a:pt x="609584" y="182507"/>
                </a:lnTo>
                <a:lnTo>
                  <a:pt x="761980" y="194889"/>
                </a:lnTo>
                <a:lnTo>
                  <a:pt x="914377" y="206462"/>
                </a:lnTo>
                <a:lnTo>
                  <a:pt x="1066773" y="217088"/>
                </a:lnTo>
                <a:lnTo>
                  <a:pt x="1219169" y="226639"/>
                </a:lnTo>
                <a:lnTo>
                  <a:pt x="1371565" y="234997"/>
                </a:lnTo>
                <a:lnTo>
                  <a:pt x="1523961" y="242064"/>
                </a:lnTo>
                <a:lnTo>
                  <a:pt x="1676358" y="247752"/>
                </a:lnTo>
                <a:lnTo>
                  <a:pt x="1828754" y="251995"/>
                </a:lnTo>
                <a:lnTo>
                  <a:pt x="1981150" y="254739"/>
                </a:lnTo>
                <a:lnTo>
                  <a:pt x="2133546" y="255953"/>
                </a:lnTo>
                <a:lnTo>
                  <a:pt x="2285942" y="255622"/>
                </a:lnTo>
                <a:lnTo>
                  <a:pt x="2438339" y="253749"/>
                </a:lnTo>
                <a:lnTo>
                  <a:pt x="2590735" y="250357"/>
                </a:lnTo>
                <a:lnTo>
                  <a:pt x="2743131" y="245488"/>
                </a:lnTo>
                <a:lnTo>
                  <a:pt x="2895527" y="239199"/>
                </a:lnTo>
                <a:lnTo>
                  <a:pt x="3047923" y="231568"/>
                </a:lnTo>
                <a:lnTo>
                  <a:pt x="3200319" y="222685"/>
                </a:lnTo>
                <a:lnTo>
                  <a:pt x="3352716" y="212659"/>
                </a:lnTo>
                <a:lnTo>
                  <a:pt x="3505112" y="201610"/>
                </a:lnTo>
                <a:lnTo>
                  <a:pt x="3657508" y="189673"/>
                </a:lnTo>
                <a:lnTo>
                  <a:pt x="3809904" y="176990"/>
                </a:lnTo>
                <a:lnTo>
                  <a:pt x="3962300" y="163716"/>
                </a:lnTo>
                <a:lnTo>
                  <a:pt x="4114697" y="150010"/>
                </a:lnTo>
                <a:lnTo>
                  <a:pt x="4267093" y="136039"/>
                </a:lnTo>
                <a:lnTo>
                  <a:pt x="4419489" y="121970"/>
                </a:lnTo>
                <a:lnTo>
                  <a:pt x="4571885" y="107974"/>
                </a:lnTo>
                <a:lnTo>
                  <a:pt x="4724281" y="94221"/>
                </a:lnTo>
                <a:lnTo>
                  <a:pt x="4876678" y="80875"/>
                </a:lnTo>
                <a:lnTo>
                  <a:pt x="5029074" y="68098"/>
                </a:lnTo>
                <a:lnTo>
                  <a:pt x="5181470" y="56045"/>
                </a:lnTo>
                <a:lnTo>
                  <a:pt x="5333866" y="44861"/>
                </a:lnTo>
                <a:lnTo>
                  <a:pt x="5486262" y="34681"/>
                </a:lnTo>
                <a:lnTo>
                  <a:pt x="5638659" y="25628"/>
                </a:lnTo>
                <a:lnTo>
                  <a:pt x="5791055" y="17812"/>
                </a:lnTo>
                <a:lnTo>
                  <a:pt x="5943451" y="11326"/>
                </a:lnTo>
                <a:lnTo>
                  <a:pt x="6095847" y="6250"/>
                </a:lnTo>
                <a:lnTo>
                  <a:pt x="6248243" y="2644"/>
                </a:lnTo>
                <a:lnTo>
                  <a:pt x="6400639" y="553"/>
                </a:lnTo>
                <a:lnTo>
                  <a:pt x="6553036" y="0"/>
                </a:lnTo>
                <a:lnTo>
                  <a:pt x="6705432" y="994"/>
                </a:lnTo>
                <a:lnTo>
                  <a:pt x="6857828" y="3522"/>
                </a:lnTo>
                <a:lnTo>
                  <a:pt x="7010224" y="7553"/>
                </a:lnTo>
                <a:lnTo>
                  <a:pt x="7162620" y="13039"/>
                </a:lnTo>
                <a:lnTo>
                  <a:pt x="7315017" y="19913"/>
                </a:lnTo>
                <a:lnTo>
                  <a:pt x="7467413" y="28093"/>
                </a:lnTo>
                <a:lnTo>
                  <a:pt x="7619809" y="37480"/>
                </a:lnTo>
                <a:lnTo>
                  <a:pt x="7772205" y="47959"/>
                </a:lnTo>
                <a:lnTo>
                  <a:pt x="7924601" y="59406"/>
                </a:lnTo>
                <a:lnTo>
                  <a:pt x="8076998" y="71681"/>
                </a:lnTo>
                <a:lnTo>
                  <a:pt x="8229394" y="84637"/>
                </a:lnTo>
                <a:lnTo>
                  <a:pt x="8381790" y="98116"/>
                </a:lnTo>
                <a:lnTo>
                  <a:pt x="8534186" y="111956"/>
                </a:lnTo>
                <a:lnTo>
                  <a:pt x="8686582" y="125990"/>
                </a:lnTo>
                <a:lnTo>
                  <a:pt x="8838979" y="140048"/>
                </a:lnTo>
                <a:lnTo>
                  <a:pt x="8991375" y="153961"/>
                </a:lnTo>
                <a:lnTo>
                  <a:pt x="9143771" y="167560"/>
                </a:lnTo>
                <a:lnTo>
                  <a:pt x="9296167" y="180681"/>
                </a:lnTo>
                <a:lnTo>
                  <a:pt x="9448563" y="193166"/>
                </a:lnTo>
                <a:lnTo>
                  <a:pt x="9600959" y="204864"/>
                </a:lnTo>
                <a:lnTo>
                  <a:pt x="9753356" y="215633"/>
                </a:lnTo>
                <a:lnTo>
                  <a:pt x="9905752" y="225345"/>
                </a:lnTo>
                <a:lnTo>
                  <a:pt x="10058148" y="233880"/>
                </a:lnTo>
                <a:lnTo>
                  <a:pt x="10210544" y="241137"/>
                </a:lnTo>
                <a:lnTo>
                  <a:pt x="10362940" y="247027"/>
                </a:lnTo>
                <a:lnTo>
                  <a:pt x="10515337" y="251479"/>
                </a:lnTo>
                <a:lnTo>
                  <a:pt x="10667733" y="254440"/>
                </a:lnTo>
                <a:lnTo>
                  <a:pt x="10820129" y="255874"/>
                </a:lnTo>
                <a:lnTo>
                  <a:pt x="10972525" y="255764"/>
                </a:lnTo>
                <a:lnTo>
                  <a:pt x="11124921" y="254110"/>
                </a:lnTo>
                <a:lnTo>
                  <a:pt x="11277318" y="250933"/>
                </a:lnTo>
                <a:lnTo>
                  <a:pt x="11429714" y="246272"/>
                </a:lnTo>
                <a:lnTo>
                  <a:pt x="11582110" y="240182"/>
                </a:lnTo>
                <a:lnTo>
                  <a:pt x="11734506" y="232737"/>
                </a:lnTo>
                <a:lnTo>
                  <a:pt x="11886902" y="224027"/>
                </a:lnTo>
                <a:lnTo>
                  <a:pt x="12039299" y="214157"/>
                </a:lnTo>
                <a:lnTo>
                  <a:pt x="12191695" y="203246"/>
                </a:lnTo>
                <a:lnTo>
                  <a:pt x="12191695" y="676641"/>
                </a:lnTo>
                <a:lnTo>
                  <a:pt x="0" y="676641"/>
                </a:lnTo>
                <a:close/>
              </a:path>
            </a:pathLst>
          </a:custGeom>
          <a:solidFill>
            <a:srgbClr val="00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SAME GPU, SAME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strument Sans"/>
              </a:rPr>
              <a:t>What tuning bought on one 20 GB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4137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0A4EB"/>
                </a:solidFill>
                <a:latin typeface="Instrument Sans"/>
              </a:rPr>
              <a:t>3.4x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" y="3886200"/>
            <a:ext cx="457200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34137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6EC"/>
                </a:solidFill>
                <a:latin typeface="Instrument Sans"/>
              </a:rPr>
              <a:t>more throughput from raising the batch caps, no new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2743200"/>
            <a:ext cx="34137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0A4EB"/>
                </a:solidFill>
                <a:latin typeface="Instrument Sans"/>
              </a:rPr>
              <a:t>5x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7032" y="3886200"/>
            <a:ext cx="457200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4069080"/>
            <a:ext cx="34137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6EC"/>
                </a:solidFill>
                <a:latin typeface="Instrument Sans"/>
              </a:rPr>
              <a:t>more KV cache going from 0.50 to 0.90 gpu-memory-utilization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9119" y="2743200"/>
            <a:ext cx="34137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0A4EB"/>
                </a:solidFill>
                <a:latin typeface="Instrument Sans"/>
              </a:rPr>
              <a:t>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6551" y="3886200"/>
            <a:ext cx="457200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9119" y="4069080"/>
            <a:ext cx="34137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D6EC"/>
                </a:solidFill>
                <a:latin typeface="Instrument Sans"/>
              </a:rPr>
              <a:t>concurrency at the knee under a 500 ms p95 TTFT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FB2CE"/>
                </a:solidFill>
                <a:latin typeface="Instrument Sans"/>
              </a:rPr>
              <a:t>The bottleneck moved because you moved it. No model change, no new card.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ONE VARIABLE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21A2A"/>
                </a:solidFill>
                <a:latin typeface="Instrument Sans"/>
              </a:rPr>
              <a:t>Prove it, do not assume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881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Match your benchmark to production input and output lengths.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Sweep concurrency. Plot p95 TTFT and inter-token latency as you climb.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Clr>
                <a:srgbClr val="00A4EB"/>
              </a:buClr>
              <a:buFont typeface="Arial"/>
              <a:buChar char="●"/>
            </a:pPr>
            <a:r>
              <a:rPr sz="1800" b="0">
                <a:solidFill>
                  <a:srgbClr val="121A2A"/>
                </a:solidFill>
                <a:latin typeface="Instrument Sans"/>
              </a:rPr>
              <a:t>The operating point is the highest load where p95 still meets your SLO.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9"/>
                </a:solidFill>
                <a:latin typeface="Instrument Sans"/>
              </a:rPr>
              <a:t>Aim for the highest throughput inside the SLO, not the highest average GPU-Util. A server at 60% that holds p99 beats one at 95% that blows the tail.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327662"/>
            <a:ext cx="12191695" cy="621778"/>
          </a:xfrm>
          <a:custGeom>
            <a:avLst/>
            <a:gdLst/>
            <a:ahLst/>
            <a:cxnLst/>
            <a:rect l="l" t="t" r="r" b="b"/>
            <a:pathLst>
              <a:path w="12191695" h="621778">
                <a:moveTo>
                  <a:pt x="0" y="118858"/>
                </a:moveTo>
                <a:lnTo>
                  <a:pt x="152396" y="131902"/>
                </a:lnTo>
                <a:lnTo>
                  <a:pt x="304792" y="144789"/>
                </a:lnTo>
                <a:lnTo>
                  <a:pt x="457188" y="157362"/>
                </a:lnTo>
                <a:lnTo>
                  <a:pt x="609584" y="169471"/>
                </a:lnTo>
                <a:lnTo>
                  <a:pt x="761980" y="180968"/>
                </a:lnTo>
                <a:lnTo>
                  <a:pt x="914377" y="191715"/>
                </a:lnTo>
                <a:lnTo>
                  <a:pt x="1066773" y="201582"/>
                </a:lnTo>
                <a:lnTo>
                  <a:pt x="1219169" y="210450"/>
                </a:lnTo>
                <a:lnTo>
                  <a:pt x="1371565" y="218212"/>
                </a:lnTo>
                <a:lnTo>
                  <a:pt x="1523961" y="224773"/>
                </a:lnTo>
                <a:lnTo>
                  <a:pt x="1676358" y="230056"/>
                </a:lnTo>
                <a:lnTo>
                  <a:pt x="1828754" y="233995"/>
                </a:lnTo>
                <a:lnTo>
                  <a:pt x="1981150" y="236544"/>
                </a:lnTo>
                <a:lnTo>
                  <a:pt x="2133546" y="237671"/>
                </a:lnTo>
                <a:lnTo>
                  <a:pt x="2285942" y="237363"/>
                </a:lnTo>
                <a:lnTo>
                  <a:pt x="2438339" y="235624"/>
                </a:lnTo>
                <a:lnTo>
                  <a:pt x="2590735" y="232475"/>
                </a:lnTo>
                <a:lnTo>
                  <a:pt x="2743131" y="227953"/>
                </a:lnTo>
                <a:lnTo>
                  <a:pt x="2895527" y="222113"/>
                </a:lnTo>
                <a:lnTo>
                  <a:pt x="3047923" y="215027"/>
                </a:lnTo>
                <a:lnTo>
                  <a:pt x="3200319" y="206779"/>
                </a:lnTo>
                <a:lnTo>
                  <a:pt x="3352716" y="197469"/>
                </a:lnTo>
                <a:lnTo>
                  <a:pt x="3505112" y="187210"/>
                </a:lnTo>
                <a:lnTo>
                  <a:pt x="3657508" y="176125"/>
                </a:lnTo>
                <a:lnTo>
                  <a:pt x="3809904" y="164348"/>
                </a:lnTo>
                <a:lnTo>
                  <a:pt x="3962300" y="152022"/>
                </a:lnTo>
                <a:lnTo>
                  <a:pt x="4114697" y="139295"/>
                </a:lnTo>
                <a:lnTo>
                  <a:pt x="4267093" y="126322"/>
                </a:lnTo>
                <a:lnTo>
                  <a:pt x="4419489" y="113258"/>
                </a:lnTo>
                <a:lnTo>
                  <a:pt x="4571885" y="100262"/>
                </a:lnTo>
                <a:lnTo>
                  <a:pt x="4724281" y="87490"/>
                </a:lnTo>
                <a:lnTo>
                  <a:pt x="4876678" y="75098"/>
                </a:lnTo>
                <a:lnTo>
                  <a:pt x="5029074" y="63234"/>
                </a:lnTo>
                <a:lnTo>
                  <a:pt x="5181470" y="52042"/>
                </a:lnTo>
                <a:lnTo>
                  <a:pt x="5333866" y="41656"/>
                </a:lnTo>
                <a:lnTo>
                  <a:pt x="5486262" y="32204"/>
                </a:lnTo>
                <a:lnTo>
                  <a:pt x="5638659" y="23797"/>
                </a:lnTo>
                <a:lnTo>
                  <a:pt x="5791055" y="16539"/>
                </a:lnTo>
                <a:lnTo>
                  <a:pt x="5943451" y="10517"/>
                </a:lnTo>
                <a:lnTo>
                  <a:pt x="6095847" y="5804"/>
                </a:lnTo>
                <a:lnTo>
                  <a:pt x="6248243" y="2455"/>
                </a:lnTo>
                <a:lnTo>
                  <a:pt x="6400639" y="513"/>
                </a:lnTo>
                <a:lnTo>
                  <a:pt x="6553036" y="0"/>
                </a:lnTo>
                <a:lnTo>
                  <a:pt x="6705432" y="923"/>
                </a:lnTo>
                <a:lnTo>
                  <a:pt x="6857828" y="3270"/>
                </a:lnTo>
                <a:lnTo>
                  <a:pt x="7010224" y="7013"/>
                </a:lnTo>
                <a:lnTo>
                  <a:pt x="7162620" y="12107"/>
                </a:lnTo>
                <a:lnTo>
                  <a:pt x="7315017" y="18491"/>
                </a:lnTo>
                <a:lnTo>
                  <a:pt x="7467413" y="26086"/>
                </a:lnTo>
                <a:lnTo>
                  <a:pt x="7619809" y="34802"/>
                </a:lnTo>
                <a:lnTo>
                  <a:pt x="7772205" y="44534"/>
                </a:lnTo>
                <a:lnTo>
                  <a:pt x="7924601" y="55163"/>
                </a:lnTo>
                <a:lnTo>
                  <a:pt x="8076998" y="66561"/>
                </a:lnTo>
                <a:lnTo>
                  <a:pt x="8229394" y="78591"/>
                </a:lnTo>
                <a:lnTo>
                  <a:pt x="8381790" y="91107"/>
                </a:lnTo>
                <a:lnTo>
                  <a:pt x="8534186" y="103959"/>
                </a:lnTo>
                <a:lnTo>
                  <a:pt x="8686582" y="116990"/>
                </a:lnTo>
                <a:lnTo>
                  <a:pt x="8838979" y="130044"/>
                </a:lnTo>
                <a:lnTo>
                  <a:pt x="8991375" y="142963"/>
                </a:lnTo>
                <a:lnTo>
                  <a:pt x="9143771" y="155591"/>
                </a:lnTo>
                <a:lnTo>
                  <a:pt x="9296167" y="167775"/>
                </a:lnTo>
                <a:lnTo>
                  <a:pt x="9448563" y="179368"/>
                </a:lnTo>
                <a:lnTo>
                  <a:pt x="9600959" y="190231"/>
                </a:lnTo>
                <a:lnTo>
                  <a:pt x="9753356" y="200231"/>
                </a:lnTo>
                <a:lnTo>
                  <a:pt x="9905752" y="209248"/>
                </a:lnTo>
                <a:lnTo>
                  <a:pt x="10058148" y="217174"/>
                </a:lnTo>
                <a:lnTo>
                  <a:pt x="10210544" y="223912"/>
                </a:lnTo>
                <a:lnTo>
                  <a:pt x="10362940" y="229382"/>
                </a:lnTo>
                <a:lnTo>
                  <a:pt x="10515337" y="233516"/>
                </a:lnTo>
                <a:lnTo>
                  <a:pt x="10667733" y="236266"/>
                </a:lnTo>
                <a:lnTo>
                  <a:pt x="10820129" y="237598"/>
                </a:lnTo>
                <a:lnTo>
                  <a:pt x="10972525" y="237495"/>
                </a:lnTo>
                <a:lnTo>
                  <a:pt x="11124921" y="235959"/>
                </a:lnTo>
                <a:lnTo>
                  <a:pt x="11277318" y="233010"/>
                </a:lnTo>
                <a:lnTo>
                  <a:pt x="11429714" y="228681"/>
                </a:lnTo>
                <a:lnTo>
                  <a:pt x="11582110" y="223026"/>
                </a:lnTo>
                <a:lnTo>
                  <a:pt x="11734506" y="216113"/>
                </a:lnTo>
                <a:lnTo>
                  <a:pt x="11886902" y="208025"/>
                </a:lnTo>
                <a:lnTo>
                  <a:pt x="12039299" y="198860"/>
                </a:lnTo>
                <a:lnTo>
                  <a:pt x="12191695" y="188729"/>
                </a:lnTo>
                <a:lnTo>
                  <a:pt x="12191695" y="621778"/>
                </a:lnTo>
                <a:lnTo>
                  <a:pt x="0" y="621778"/>
                </a:lnTo>
                <a:close/>
              </a:path>
            </a:pathLst>
          </a:custGeom>
          <a:solidFill>
            <a:srgbClr val="001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A4EB"/>
                </a:solidFill>
                <a:latin typeface="Instrument Sans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Instrument Sans"/>
              </a:rPr>
              <a:t>An agent running on inference you </a:t>
            </a:r>
            <a:r>
              <a:rPr sz="3800" b="1">
                <a:solidFill>
                  <a:srgbClr val="FF8B00"/>
                </a:solidFill>
                <a:latin typeface="Instrument Sans"/>
              </a:rPr>
              <a:t>own</a:t>
            </a:r>
            <a:r>
              <a:rPr sz="3800" b="1">
                <a:solidFill>
                  <a:srgbClr val="FFFFFF"/>
                </a:solidFill>
                <a:latin typeface="Instrument Sans"/>
              </a:rPr>
              <a:t> and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The agent points at your vLLM, on your GPU, not a rented API.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You can see batching, KV pressure, and the throughput limit in the metrics.</a:t>
            </a:r>
          </a:p>
          <a:p>
            <a:pPr algn="l" indent="-228600" marL="228600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  <a:buClr>
                <a:srgbClr val="00A4EB"/>
              </a:buClr>
              <a:buFont typeface="Arial"/>
              <a:buChar char="●"/>
            </a:pPr>
            <a:r>
              <a:rPr sz="1900" b="0">
                <a:solidFill>
                  <a:srgbClr val="C7D6EC"/>
                </a:solidFill>
                <a:latin typeface="Instrument Sans"/>
              </a:rPr>
              <a:t>You tuned the deployment and proved the gain. The token bill is now a GPU-hour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44068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001B40"/>
          </a:solidFill>
          <a:ln w="12700">
            <a:solidFill>
              <a:srgbClr val="00A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440680"/>
            <a:ext cx="82296" cy="822960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41264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Instrument Sans"/>
              </a:rPr>
              <a:t>Cost per million tokens = GPU hourly rate / tokens per hour at your real utilization. Owning wins when the card stays busy.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724457"/>
            <a:ext cx="12191695" cy="1224983"/>
          </a:xfrm>
          <a:custGeom>
            <a:avLst/>
            <a:gdLst/>
            <a:ahLst/>
            <a:cxnLst/>
            <a:rect l="l" t="t" r="r" b="b"/>
            <a:pathLst>
              <a:path w="12191695" h="1224983">
                <a:moveTo>
                  <a:pt x="0" y="283996"/>
                </a:moveTo>
                <a:lnTo>
                  <a:pt x="152396" y="308189"/>
                </a:lnTo>
                <a:lnTo>
                  <a:pt x="304792" y="331147"/>
                </a:lnTo>
                <a:lnTo>
                  <a:pt x="457188" y="352553"/>
                </a:lnTo>
                <a:lnTo>
                  <a:pt x="609584" y="372109"/>
                </a:lnTo>
                <a:lnTo>
                  <a:pt x="761980" y="389544"/>
                </a:lnTo>
                <a:lnTo>
                  <a:pt x="914377" y="404617"/>
                </a:lnTo>
                <a:lnTo>
                  <a:pt x="1066773" y="417119"/>
                </a:lnTo>
                <a:lnTo>
                  <a:pt x="1219169" y="426876"/>
                </a:lnTo>
                <a:lnTo>
                  <a:pt x="1371565" y="433754"/>
                </a:lnTo>
                <a:lnTo>
                  <a:pt x="1523961" y="437656"/>
                </a:lnTo>
                <a:lnTo>
                  <a:pt x="1676358" y="438529"/>
                </a:lnTo>
                <a:lnTo>
                  <a:pt x="1828754" y="436361"/>
                </a:lnTo>
                <a:lnTo>
                  <a:pt x="1981150" y="431181"/>
                </a:lnTo>
                <a:lnTo>
                  <a:pt x="2133546" y="423062"/>
                </a:lnTo>
                <a:lnTo>
                  <a:pt x="2285942" y="412116"/>
                </a:lnTo>
                <a:lnTo>
                  <a:pt x="2438339" y="398495"/>
                </a:lnTo>
                <a:lnTo>
                  <a:pt x="2590735" y="382387"/>
                </a:lnTo>
                <a:lnTo>
                  <a:pt x="2743131" y="364016"/>
                </a:lnTo>
                <a:lnTo>
                  <a:pt x="2895527" y="343637"/>
                </a:lnTo>
                <a:lnTo>
                  <a:pt x="3047923" y="321532"/>
                </a:lnTo>
                <a:lnTo>
                  <a:pt x="3200319" y="298008"/>
                </a:lnTo>
                <a:lnTo>
                  <a:pt x="3352716" y="273390"/>
                </a:lnTo>
                <a:lnTo>
                  <a:pt x="3505112" y="248020"/>
                </a:lnTo>
                <a:lnTo>
                  <a:pt x="3657508" y="222250"/>
                </a:lnTo>
                <a:lnTo>
                  <a:pt x="3809904" y="196436"/>
                </a:lnTo>
                <a:lnTo>
                  <a:pt x="3962300" y="170938"/>
                </a:lnTo>
                <a:lnTo>
                  <a:pt x="4114697" y="146108"/>
                </a:lnTo>
                <a:lnTo>
                  <a:pt x="4267093" y="122290"/>
                </a:lnTo>
                <a:lnTo>
                  <a:pt x="4419489" y="99815"/>
                </a:lnTo>
                <a:lnTo>
                  <a:pt x="4571885" y="78994"/>
                </a:lnTo>
                <a:lnTo>
                  <a:pt x="4724281" y="60116"/>
                </a:lnTo>
                <a:lnTo>
                  <a:pt x="4876678" y="43443"/>
                </a:lnTo>
                <a:lnTo>
                  <a:pt x="5029074" y="29205"/>
                </a:lnTo>
                <a:lnTo>
                  <a:pt x="5181470" y="17601"/>
                </a:lnTo>
                <a:lnTo>
                  <a:pt x="5333866" y="8791"/>
                </a:lnTo>
                <a:lnTo>
                  <a:pt x="5486262" y="2896"/>
                </a:lnTo>
                <a:lnTo>
                  <a:pt x="5638659" y="0"/>
                </a:lnTo>
                <a:lnTo>
                  <a:pt x="5791055" y="141"/>
                </a:lnTo>
                <a:lnTo>
                  <a:pt x="5943451" y="3319"/>
                </a:lnTo>
                <a:lnTo>
                  <a:pt x="6095847" y="9488"/>
                </a:lnTo>
                <a:lnTo>
                  <a:pt x="6248243" y="18564"/>
                </a:lnTo>
                <a:lnTo>
                  <a:pt x="6400639" y="30421"/>
                </a:lnTo>
                <a:lnTo>
                  <a:pt x="6553036" y="44894"/>
                </a:lnTo>
                <a:lnTo>
                  <a:pt x="6705432" y="61782"/>
                </a:lnTo>
                <a:lnTo>
                  <a:pt x="6857828" y="80852"/>
                </a:lnTo>
                <a:lnTo>
                  <a:pt x="7010224" y="101839"/>
                </a:lnTo>
                <a:lnTo>
                  <a:pt x="7162620" y="124453"/>
                </a:lnTo>
                <a:lnTo>
                  <a:pt x="7315017" y="148379"/>
                </a:lnTo>
                <a:lnTo>
                  <a:pt x="7467413" y="173286"/>
                </a:lnTo>
                <a:lnTo>
                  <a:pt x="7619809" y="198828"/>
                </a:lnTo>
                <a:lnTo>
                  <a:pt x="7772205" y="224653"/>
                </a:lnTo>
                <a:lnTo>
                  <a:pt x="7924601" y="250401"/>
                </a:lnTo>
                <a:lnTo>
                  <a:pt x="8076998" y="275715"/>
                </a:lnTo>
                <a:lnTo>
                  <a:pt x="8229394" y="300246"/>
                </a:lnTo>
                <a:lnTo>
                  <a:pt x="8381790" y="323652"/>
                </a:lnTo>
                <a:lnTo>
                  <a:pt x="8534186" y="345609"/>
                </a:lnTo>
                <a:lnTo>
                  <a:pt x="8686582" y="365813"/>
                </a:lnTo>
                <a:lnTo>
                  <a:pt x="8838979" y="383983"/>
                </a:lnTo>
                <a:lnTo>
                  <a:pt x="8991375" y="399869"/>
                </a:lnTo>
                <a:lnTo>
                  <a:pt x="9143771" y="413249"/>
                </a:lnTo>
                <a:lnTo>
                  <a:pt x="9296167" y="423938"/>
                </a:lnTo>
                <a:lnTo>
                  <a:pt x="9448563" y="431788"/>
                </a:lnTo>
                <a:lnTo>
                  <a:pt x="9600959" y="436690"/>
                </a:lnTo>
                <a:lnTo>
                  <a:pt x="9753356" y="438577"/>
                </a:lnTo>
                <a:lnTo>
                  <a:pt x="9905752" y="437421"/>
                </a:lnTo>
                <a:lnTo>
                  <a:pt x="10058148" y="433239"/>
                </a:lnTo>
                <a:lnTo>
                  <a:pt x="10210544" y="426089"/>
                </a:lnTo>
                <a:lnTo>
                  <a:pt x="10362940" y="416070"/>
                </a:lnTo>
                <a:lnTo>
                  <a:pt x="10515337" y="403321"/>
                </a:lnTo>
                <a:lnTo>
                  <a:pt x="10667733" y="388019"/>
                </a:lnTo>
                <a:lnTo>
                  <a:pt x="10820129" y="370376"/>
                </a:lnTo>
                <a:lnTo>
                  <a:pt x="10972525" y="350636"/>
                </a:lnTo>
                <a:lnTo>
                  <a:pt x="11124921" y="329074"/>
                </a:lnTo>
                <a:lnTo>
                  <a:pt x="11277318" y="305987"/>
                </a:lnTo>
                <a:lnTo>
                  <a:pt x="11429714" y="281696"/>
                </a:lnTo>
                <a:lnTo>
                  <a:pt x="11582110" y="256539"/>
                </a:lnTo>
                <a:lnTo>
                  <a:pt x="11734506" y="230862"/>
                </a:lnTo>
                <a:lnTo>
                  <a:pt x="11886902" y="205024"/>
                </a:lnTo>
                <a:lnTo>
                  <a:pt x="12039299" y="179381"/>
                </a:lnTo>
                <a:lnTo>
                  <a:pt x="12191695" y="154289"/>
                </a:lnTo>
                <a:lnTo>
                  <a:pt x="12191695" y="1224983"/>
                </a:lnTo>
                <a:lnTo>
                  <a:pt x="0" y="1224983"/>
                </a:lnTo>
                <a:close/>
              </a:path>
            </a:pathLst>
          </a:custGeom>
          <a:solidFill>
            <a:srgbClr val="00A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nstrument Sans"/>
              </a:rPr>
              <a:t>What to carry out of this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463040"/>
            <a:ext cx="566928" cy="54864"/>
          </a:xfrm>
          <a:prstGeom prst="rect">
            <a:avLst/>
          </a:prstGeom>
          <a:solidFill>
            <a:srgbClr val="FF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0A4EB"/>
                </a:solidFill>
                <a:latin typeface="Instrument Sans"/>
              </a:rPr>
              <a:t>✓  </a:t>
            </a:r>
            <a:r>
              <a:rPr sz="1800" b="0">
                <a:solidFill>
                  <a:srgbClr val="D3DFEF"/>
                </a:solidFill>
                <a:latin typeface="Instrument Sans"/>
              </a:rPr>
              <a:t>Decide rent versus own from volume and utilization, not vibes.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0A4EB"/>
                </a:solidFill>
                <a:latin typeface="Instrument Sans"/>
              </a:rPr>
              <a:t>✓  </a:t>
            </a:r>
            <a:r>
              <a:rPr sz="1800" b="0">
                <a:solidFill>
                  <a:srgbClr val="D3DFEF"/>
                </a:solidFill>
                <a:latin typeface="Instrument Sans"/>
              </a:rPr>
              <a:t>Know your card: weights, KV bytes per token, bandwidth ceiling, before you launch.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0A4EB"/>
                </a:solidFill>
                <a:latin typeface="Instrument Sans"/>
              </a:rPr>
              <a:t>✓  </a:t>
            </a:r>
            <a:r>
              <a:rPr sz="1800" b="0">
                <a:solidFill>
                  <a:srgbClr val="D3DFEF"/>
                </a:solidFill>
                <a:latin typeface="Instrument Sans"/>
              </a:rPr>
              <a:t>Saturate on purpose. Find the knee. Read cache usage and queue depth.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0A4EB"/>
                </a:solidFill>
                <a:latin typeface="Instrument Sans"/>
              </a:rPr>
              <a:t>✓  </a:t>
            </a:r>
            <a:r>
              <a:rPr sz="1800" b="0">
                <a:solidFill>
                  <a:srgbClr val="D3DFEF"/>
                </a:solidFill>
                <a:latin typeface="Instrument Sans"/>
              </a:rPr>
              <a:t>Tune one knob at a time. Hold the latency SLO. Prove every change.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0A4EB"/>
                </a:solidFill>
                <a:latin typeface="Instrument Sans"/>
              </a:rPr>
              <a:t>✓  </a:t>
            </a:r>
            <a:r>
              <a:rPr sz="1800" b="0">
                <a:solidFill>
                  <a:srgbClr val="D3DFEF"/>
                </a:solidFill>
                <a:latin typeface="Instrument Sans"/>
              </a:rPr>
              <a:t>Owning inference is an operations practice, not a one-time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strument Sans"/>
              </a:rPr>
              <a:t>You rented intelligence on the way in. You can own it on the way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